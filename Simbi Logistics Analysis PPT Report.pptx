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0" r:id="rId6"/>
    <p:sldId id="261" r:id="rId7"/>
    <p:sldId id="280" r:id="rId8"/>
    <p:sldId id="262" r:id="rId9"/>
    <p:sldId id="263" r:id="rId10"/>
    <p:sldId id="264" r:id="rId11"/>
    <p:sldId id="265" r:id="rId12"/>
    <p:sldId id="266" r:id="rId13"/>
    <p:sldId id="267" r:id="rId14"/>
    <p:sldId id="268" r:id="rId15"/>
    <p:sldId id="269" r:id="rId16"/>
    <p:sldId id="271" r:id="rId17"/>
    <p:sldId id="273" r:id="rId18"/>
    <p:sldId id="275" r:id="rId19"/>
    <p:sldId id="277" r:id="rId20"/>
    <p:sldId id="279" r:id="rId21"/>
    <p:sldId id="281" r:id="rId22"/>
    <p:sldId id="282" r:id="rId23"/>
    <p:sldId id="283" r:id="rId24"/>
    <p:sldId id="284" r:id="rId25"/>
    <p:sldId id="285" r:id="rId26"/>
    <p:sldId id="286" r:id="rId27"/>
    <p:sldId id="287" r:id="rId28"/>
    <p:sldId id="288" r:id="rId29"/>
    <p:sldId id="289" r:id="rId30"/>
    <p:sldId id="290" r:id="rId31"/>
    <p:sldId id="291" r:id="rId32"/>
    <p:sldId id="292" r:id="rId3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D03447BB-5D67-496B-8E87-E561075AD55C}" styleName="Dark Style 1 - Accent 3">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3"/>
          </a:solidFill>
        </a:fill>
      </a:tcStyle>
    </a:wholeTbl>
    <a:band1H>
      <a:tcStyle>
        <a:tcBdr/>
        <a:fill>
          <a:solidFill>
            <a:schemeClr val="accent3">
              <a:shade val="60000"/>
            </a:schemeClr>
          </a:solidFill>
        </a:fill>
      </a:tcStyle>
    </a:band1H>
    <a:band1V>
      <a:tcStyle>
        <a:tcBdr/>
        <a:fill>
          <a:solidFill>
            <a:schemeClr val="accent3">
              <a:shade val="60000"/>
            </a:schemeClr>
          </a:solidFill>
        </a:fill>
      </a:tcStyle>
    </a:band1V>
    <a:lastCol>
      <a:tcTxStyle b="on"/>
      <a:tcStyle>
        <a:tcBdr>
          <a:left>
            <a:ln w="25400" cmpd="sng">
              <a:solidFill>
                <a:schemeClr val="lt1"/>
              </a:solidFill>
            </a:ln>
          </a:left>
        </a:tcBdr>
        <a:fill>
          <a:solidFill>
            <a:schemeClr val="accent3">
              <a:shade val="60000"/>
            </a:schemeClr>
          </a:solidFill>
        </a:fill>
      </a:tcStyle>
    </a:lastCol>
    <a:firstCol>
      <a:tcTxStyle b="on"/>
      <a:tcStyle>
        <a:tcBdr>
          <a:right>
            <a:ln w="25400" cmpd="sng">
              <a:solidFill>
                <a:schemeClr val="lt1"/>
              </a:solidFill>
            </a:ln>
          </a:right>
        </a:tcBdr>
        <a:fill>
          <a:solidFill>
            <a:schemeClr val="accent3">
              <a:shade val="60000"/>
            </a:schemeClr>
          </a:solidFill>
        </a:fill>
      </a:tcStyle>
    </a:firstCol>
    <a:lastRow>
      <a:tcTxStyle b="on"/>
      <a:tcStyle>
        <a:tcBdr>
          <a:top>
            <a:ln w="25400" cmpd="sng">
              <a:solidFill>
                <a:schemeClr val="lt1"/>
              </a:solidFill>
            </a:ln>
          </a:top>
        </a:tcBdr>
        <a:fill>
          <a:solidFill>
            <a:schemeClr val="accent3">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1651" autoAdjust="0"/>
    <p:restoredTop sz="94660"/>
  </p:normalViewPr>
  <p:slideViewPr>
    <p:cSldViewPr snapToGrid="0">
      <p:cViewPr varScale="1">
        <p:scale>
          <a:sx n="78" d="100"/>
          <a:sy n="78" d="100"/>
        </p:scale>
        <p:origin x="1032" y="67"/>
      </p:cViewPr>
      <p:guideLst/>
    </p:cSldViewPr>
  </p:slideViewPr>
  <p:notesTextViewPr>
    <p:cViewPr>
      <p:scale>
        <a:sx n="1" d="1"/>
        <a:sy n="1" d="1"/>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95269" y="1122363"/>
            <a:ext cx="9001462" cy="2387600"/>
          </a:xfrm>
        </p:spPr>
        <p:txBody>
          <a:bodyPr anchor="b">
            <a:normAutofit/>
          </a:bodyPr>
          <a:lstStyle>
            <a:lvl1pPr algn="ctr">
              <a:defRPr sz="4800"/>
            </a:lvl1pPr>
          </a:lstStyle>
          <a:p>
            <a:r>
              <a:rPr lang="en-US"/>
              <a:t>Click to edit Master title style</a:t>
            </a:r>
            <a:endParaRPr lang="en-US" dirty="0"/>
          </a:p>
        </p:txBody>
      </p:sp>
      <p:sp>
        <p:nvSpPr>
          <p:cNvPr id="3" name="Subtitle 2"/>
          <p:cNvSpPr>
            <a:spLocks noGrp="1"/>
          </p:cNvSpPr>
          <p:nvPr>
            <p:ph type="subTitle" idx="1"/>
          </p:nvPr>
        </p:nvSpPr>
        <p:spPr>
          <a:xfrm>
            <a:off x="1595269" y="3602038"/>
            <a:ext cx="9001462"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471E66AB-EFE1-444C-9A4D-4B7EB38551AC}" type="datetimeFigureOut">
              <a:rPr lang="en-US" smtClean="0"/>
              <a:t>6/18/2026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C473EEE-C647-40AB-BD0B-EC8B4EA61E5A}" type="slidenum">
              <a:rPr lang="en-US" smtClean="0"/>
              <a:t>‹#›</a:t>
            </a:fld>
            <a:endParaRPr lang="en-US"/>
          </a:p>
        </p:txBody>
      </p:sp>
    </p:spTree>
    <p:extLst>
      <p:ext uri="{BB962C8B-B14F-4D97-AF65-F5344CB8AC3E}">
        <p14:creationId xmlns:p14="http://schemas.microsoft.com/office/powerpoint/2010/main" val="419977794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71E66AB-EFE1-444C-9A4D-4B7EB38551AC}" type="datetimeFigureOut">
              <a:rPr lang="en-US" smtClean="0"/>
              <a:t>6/18/2026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C473EEE-C647-40AB-BD0B-EC8B4EA61E5A}" type="slidenum">
              <a:rPr lang="en-US" smtClean="0"/>
              <a:t>‹#›</a:t>
            </a:fld>
            <a:endParaRPr lang="en-US"/>
          </a:p>
        </p:txBody>
      </p:sp>
    </p:spTree>
    <p:extLst>
      <p:ext uri="{BB962C8B-B14F-4D97-AF65-F5344CB8AC3E}">
        <p14:creationId xmlns:p14="http://schemas.microsoft.com/office/powerpoint/2010/main" val="138455239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229244" y="657226"/>
            <a:ext cx="9733512" cy="2852737"/>
          </a:xfrm>
        </p:spPr>
        <p:txBody>
          <a:bodyPr anchor="b">
            <a:normAutofit/>
          </a:bodyPr>
          <a:lstStyle>
            <a:lvl1pPr>
              <a:defRPr sz="3400"/>
            </a:lvl1pPr>
          </a:lstStyle>
          <a:p>
            <a:r>
              <a:rPr lang="en-US"/>
              <a:t>Click to edit Master title style</a:t>
            </a:r>
            <a:endParaRPr lang="en-US" dirty="0"/>
          </a:p>
        </p:txBody>
      </p:sp>
      <p:sp>
        <p:nvSpPr>
          <p:cNvPr id="3" name="Text Placeholder 2"/>
          <p:cNvSpPr>
            <a:spLocks noGrp="1"/>
          </p:cNvSpPr>
          <p:nvPr>
            <p:ph type="body" idx="1"/>
          </p:nvPr>
        </p:nvSpPr>
        <p:spPr>
          <a:xfrm>
            <a:off x="1229244" y="3602038"/>
            <a:ext cx="9733512" cy="1500187"/>
          </a:xfrm>
        </p:spPr>
        <p:txBody>
          <a:bodyPr/>
          <a:lstStyle>
            <a:lvl1pPr marL="0" indent="0" algn="ctr">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71E66AB-EFE1-444C-9A4D-4B7EB38551AC}" type="datetimeFigureOut">
              <a:rPr lang="en-US" smtClean="0"/>
              <a:t>6/18/2026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C473EEE-C647-40AB-BD0B-EC8B4EA61E5A}" type="slidenum">
              <a:rPr lang="en-US" smtClean="0"/>
              <a:t>‹#›</a:t>
            </a:fld>
            <a:endParaRPr lang="en-US"/>
          </a:p>
        </p:txBody>
      </p:sp>
    </p:spTree>
    <p:extLst>
      <p:ext uri="{BB962C8B-B14F-4D97-AF65-F5344CB8AC3E}">
        <p14:creationId xmlns:p14="http://schemas.microsoft.com/office/powerpoint/2010/main" val="291254665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10353761" cy="1326321"/>
          </a:xfrm>
        </p:spPr>
        <p:txBody>
          <a:bodyPr/>
          <a:lstStyle/>
          <a:p>
            <a:r>
              <a:rPr lang="en-US"/>
              <a:t>Click to edit Master title style</a:t>
            </a:r>
            <a:endParaRPr lang="en-US" dirty="0"/>
          </a:p>
        </p:txBody>
      </p:sp>
      <p:sp>
        <p:nvSpPr>
          <p:cNvPr id="3" name="Content Placeholder 2"/>
          <p:cNvSpPr>
            <a:spLocks noGrp="1"/>
          </p:cNvSpPr>
          <p:nvPr>
            <p:ph sz="half" idx="1"/>
          </p:nvPr>
        </p:nvSpPr>
        <p:spPr>
          <a:xfrm>
            <a:off x="913795" y="2088319"/>
            <a:ext cx="5106004" cy="370288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3403" y="2088319"/>
            <a:ext cx="5094154" cy="370288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71E66AB-EFE1-444C-9A4D-4B7EB38551AC}" type="datetimeFigureOut">
              <a:rPr lang="en-US" smtClean="0"/>
              <a:t>6/18/2026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C473EEE-C647-40AB-BD0B-EC8B4EA61E5A}" type="slidenum">
              <a:rPr lang="en-US" smtClean="0"/>
              <a:t>‹#›</a:t>
            </a:fld>
            <a:endParaRPr lang="en-US"/>
          </a:p>
        </p:txBody>
      </p:sp>
    </p:spTree>
    <p:extLst>
      <p:ext uri="{BB962C8B-B14F-4D97-AF65-F5344CB8AC3E}">
        <p14:creationId xmlns:p14="http://schemas.microsoft.com/office/powerpoint/2010/main" val="258243508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10353761"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1141804" y="2088320"/>
            <a:ext cx="4879199" cy="823912"/>
          </a:xfrm>
        </p:spPr>
        <p:txBody>
          <a:bodyPr anchor="b"/>
          <a:lstStyle>
            <a:lvl1pPr marL="0" indent="0">
              <a:lnSpc>
                <a:spcPct val="100000"/>
              </a:lnSpc>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913795" y="2912232"/>
            <a:ext cx="5107208" cy="287896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02003" y="2088320"/>
            <a:ext cx="4865554" cy="823912"/>
          </a:xfrm>
        </p:spPr>
        <p:txBody>
          <a:bodyPr anchor="b"/>
          <a:lstStyle>
            <a:lvl1pPr marL="0" indent="0">
              <a:lnSpc>
                <a:spcPct val="100000"/>
              </a:lnSpc>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912232"/>
            <a:ext cx="5095357" cy="287896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71E66AB-EFE1-444C-9A4D-4B7EB38551AC}" type="datetimeFigureOut">
              <a:rPr lang="en-US" smtClean="0"/>
              <a:t>6/18/2026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EC473EEE-C647-40AB-BD0B-EC8B4EA61E5A}" type="slidenum">
              <a:rPr lang="en-US" smtClean="0"/>
              <a:t>‹#›</a:t>
            </a:fld>
            <a:endParaRPr lang="en-US"/>
          </a:p>
        </p:txBody>
      </p:sp>
    </p:spTree>
    <p:extLst>
      <p:ext uri="{BB962C8B-B14F-4D97-AF65-F5344CB8AC3E}">
        <p14:creationId xmlns:p14="http://schemas.microsoft.com/office/powerpoint/2010/main" val="150435467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71E66AB-EFE1-444C-9A4D-4B7EB38551AC}" type="datetimeFigureOut">
              <a:rPr lang="en-US" smtClean="0"/>
              <a:t>6/18/2026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EC473EEE-C647-40AB-BD0B-EC8B4EA61E5A}" type="slidenum">
              <a:rPr lang="en-US" smtClean="0"/>
              <a:t>‹#›</a:t>
            </a:fld>
            <a:endParaRPr lang="en-US"/>
          </a:p>
        </p:txBody>
      </p:sp>
    </p:spTree>
    <p:extLst>
      <p:ext uri="{BB962C8B-B14F-4D97-AF65-F5344CB8AC3E}">
        <p14:creationId xmlns:p14="http://schemas.microsoft.com/office/powerpoint/2010/main" val="366129256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71E66AB-EFE1-444C-9A4D-4B7EB38551AC}" type="datetimeFigureOut">
              <a:rPr lang="en-US" smtClean="0"/>
              <a:t>6/18/2026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EC473EEE-C647-40AB-BD0B-EC8B4EA61E5A}" type="slidenum">
              <a:rPr lang="en-US" smtClean="0"/>
              <a:t>‹#›</a:t>
            </a:fld>
            <a:endParaRPr lang="en-US"/>
          </a:p>
        </p:txBody>
      </p:sp>
    </p:spTree>
    <p:extLst>
      <p:ext uri="{BB962C8B-B14F-4D97-AF65-F5344CB8AC3E}">
        <p14:creationId xmlns:p14="http://schemas.microsoft.com/office/powerpoint/2010/main" val="54021431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7228" y="609600"/>
            <a:ext cx="3932237" cy="2362200"/>
          </a:xfrm>
        </p:spPr>
        <p:txBody>
          <a:bodyPr anchor="b">
            <a:normAutofit/>
          </a:bodyPr>
          <a:lstStyle>
            <a:lvl1pPr>
              <a:defRPr sz="2800"/>
            </a:lvl1pPr>
          </a:lstStyle>
          <a:p>
            <a:r>
              <a:rPr lang="en-US"/>
              <a:t>Click to edit Master title style</a:t>
            </a:r>
            <a:endParaRPr lang="en-US" dirty="0"/>
          </a:p>
        </p:txBody>
      </p:sp>
      <p:sp>
        <p:nvSpPr>
          <p:cNvPr id="3" name="Content Placeholder 2"/>
          <p:cNvSpPr>
            <a:spLocks noGrp="1"/>
          </p:cNvSpPr>
          <p:nvPr>
            <p:ph idx="1"/>
          </p:nvPr>
        </p:nvSpPr>
        <p:spPr>
          <a:xfrm>
            <a:off x="5078064" y="609600"/>
            <a:ext cx="6189492" cy="5181600"/>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917228" y="2971800"/>
            <a:ext cx="3932237" cy="2819399"/>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71E66AB-EFE1-444C-9A4D-4B7EB38551AC}" type="datetimeFigureOut">
              <a:rPr lang="en-US" smtClean="0"/>
              <a:t>6/18/2026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C473EEE-C647-40AB-BD0B-EC8B4EA61E5A}" type="slidenum">
              <a:rPr lang="en-US" smtClean="0"/>
              <a:t>‹#›</a:t>
            </a:fld>
            <a:endParaRPr lang="en-US"/>
          </a:p>
        </p:txBody>
      </p:sp>
    </p:spTree>
    <p:extLst>
      <p:ext uri="{BB962C8B-B14F-4D97-AF65-F5344CB8AC3E}">
        <p14:creationId xmlns:p14="http://schemas.microsoft.com/office/powerpoint/2010/main" val="392634853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7227" y="609600"/>
            <a:ext cx="5929773" cy="2362200"/>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7424804" y="758881"/>
            <a:ext cx="3255356" cy="4883038"/>
          </a:xfrm>
          <a:noFill/>
          <a:ln w="1905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3794" y="2971800"/>
            <a:ext cx="5934950" cy="2819400"/>
          </a:xfrm>
        </p:spPr>
        <p:txBody>
          <a:bodyPr>
            <a:normAutofit/>
          </a:bodyPr>
          <a:lstStyle>
            <a:lvl1pPr marL="0" indent="0" algn="ctr">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71E66AB-EFE1-444C-9A4D-4B7EB38551AC}" type="datetimeFigureOut">
              <a:rPr lang="en-US" smtClean="0"/>
              <a:t>6/18/2026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C473EEE-C647-40AB-BD0B-EC8B4EA61E5A}" type="slidenum">
              <a:rPr lang="en-US" smtClean="0"/>
              <a:t>‹#›</a:t>
            </a:fld>
            <a:endParaRPr lang="en-US"/>
          </a:p>
        </p:txBody>
      </p:sp>
    </p:spTree>
    <p:extLst>
      <p:ext uri="{BB962C8B-B14F-4D97-AF65-F5344CB8AC3E}">
        <p14:creationId xmlns:p14="http://schemas.microsoft.com/office/powerpoint/2010/main" val="2582985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3806" y="4289372"/>
            <a:ext cx="10367564" cy="819355"/>
          </a:xfrm>
        </p:spPr>
        <p:txBody>
          <a:bodyPr anchor="b">
            <a:normAutofit/>
          </a:bodyPr>
          <a:lstStyle>
            <a:lvl1pPr>
              <a:defRPr sz="2800"/>
            </a:lvl1pPr>
          </a:lstStyle>
          <a:p>
            <a:r>
              <a:rPr lang="en-US"/>
              <a:t>Click to edit Master title style</a:t>
            </a:r>
            <a:endParaRPr lang="en-US" dirty="0"/>
          </a:p>
        </p:txBody>
      </p:sp>
      <p:sp>
        <p:nvSpPr>
          <p:cNvPr id="3" name="Picture Placeholder 2"/>
          <p:cNvSpPr>
            <a:spLocks noGrp="1" noChangeAspect="1"/>
          </p:cNvSpPr>
          <p:nvPr>
            <p:ph type="pic" idx="1"/>
          </p:nvPr>
        </p:nvSpPr>
        <p:spPr>
          <a:xfrm>
            <a:off x="913806" y="621321"/>
            <a:ext cx="10367564" cy="3379735"/>
          </a:xfrm>
          <a:noFill/>
          <a:ln w="1905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3795" y="5108728"/>
            <a:ext cx="10365998" cy="682472"/>
          </a:xfrm>
        </p:spPr>
        <p:txBody>
          <a:bodyPr>
            <a:normAutofit/>
          </a:bodyPr>
          <a:lstStyle>
            <a:lvl1pPr marL="0" indent="0" algn="ctr">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71E66AB-EFE1-444C-9A4D-4B7EB38551AC}" type="datetimeFigureOut">
              <a:rPr lang="en-US" smtClean="0"/>
              <a:t>6/18/2026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C473EEE-C647-40AB-BD0B-EC8B4EA61E5A}" type="slidenum">
              <a:rPr lang="en-US" smtClean="0"/>
              <a:t>‹#›</a:t>
            </a:fld>
            <a:endParaRPr lang="en-US"/>
          </a:p>
        </p:txBody>
      </p:sp>
    </p:spTree>
    <p:extLst>
      <p:ext uri="{BB962C8B-B14F-4D97-AF65-F5344CB8AC3E}">
        <p14:creationId xmlns:p14="http://schemas.microsoft.com/office/powerpoint/2010/main" val="417100713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10353762" cy="3424859"/>
          </a:xfrm>
        </p:spPr>
        <p:txBody>
          <a:bodyPr anchor="ctr"/>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95" y="4204820"/>
            <a:ext cx="10353761" cy="1592186"/>
          </a:xfrm>
        </p:spPr>
        <p:txBody>
          <a:bodyPr anchor="ct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71E66AB-EFE1-444C-9A4D-4B7EB38551AC}" type="datetimeFigureOut">
              <a:rPr lang="en-US" smtClean="0"/>
              <a:t>6/18/2026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C473EEE-C647-40AB-BD0B-EC8B4EA61E5A}" type="slidenum">
              <a:rPr lang="en-US" smtClean="0"/>
              <a:t>‹#›</a:t>
            </a:fld>
            <a:endParaRPr lang="en-US"/>
          </a:p>
        </p:txBody>
      </p:sp>
    </p:spTree>
    <p:extLst>
      <p:ext uri="{BB962C8B-B14F-4D97-AF65-F5344CB8AC3E}">
        <p14:creationId xmlns:p14="http://schemas.microsoft.com/office/powerpoint/2010/main" val="44333507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600"/>
            <a:ext cx="9302752" cy="2992904"/>
          </a:xfrm>
        </p:spPr>
        <p:txBody>
          <a:bodyPr anchor="ctr"/>
          <a:lstStyle>
            <a:lvl1pPr>
              <a:defRPr sz="3200"/>
            </a:lvl1pPr>
          </a:lstStyle>
          <a:p>
            <a:r>
              <a:rPr lang="en-US"/>
              <a:t>Click to edit Master title style</a:t>
            </a:r>
            <a:endParaRPr lang="en-US" dirty="0"/>
          </a:p>
        </p:txBody>
      </p:sp>
      <p:sp>
        <p:nvSpPr>
          <p:cNvPr id="12" name="Text Placeholder 3"/>
          <p:cNvSpPr>
            <a:spLocks noGrp="1"/>
          </p:cNvSpPr>
          <p:nvPr>
            <p:ph type="body" sz="half" idx="13"/>
          </p:nvPr>
        </p:nvSpPr>
        <p:spPr>
          <a:xfrm>
            <a:off x="1720644" y="3610032"/>
            <a:ext cx="8752299" cy="426812"/>
          </a:xfrm>
        </p:spPr>
        <p:txBody>
          <a:bodyPr anchor="t">
            <a:normAutofit/>
          </a:bodyPr>
          <a:lstStyle>
            <a:lvl1pPr marL="0" indent="0" algn="r">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913794" y="4204821"/>
            <a:ext cx="10353762" cy="1586380"/>
          </a:xfrm>
        </p:spPr>
        <p:txBody>
          <a:bodyPr anchor="ctr">
            <a:normAutofit/>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71E66AB-EFE1-444C-9A4D-4B7EB38551AC}" type="datetimeFigureOut">
              <a:rPr lang="en-US" smtClean="0"/>
              <a:t>6/18/2026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C473EEE-C647-40AB-BD0B-EC8B4EA61E5A}" type="slidenum">
              <a:rPr lang="en-US" smtClean="0"/>
              <a:t>‹#›</a:t>
            </a:fld>
            <a:endParaRPr lang="en-US"/>
          </a:p>
        </p:txBody>
      </p:sp>
      <p:sp>
        <p:nvSpPr>
          <p:cNvPr id="11" name="TextBox 10"/>
          <p:cNvSpPr txBox="1"/>
          <p:nvPr/>
        </p:nvSpPr>
        <p:spPr>
          <a:xfrm>
            <a:off x="836612" y="735241"/>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3" name="TextBox 12"/>
          <p:cNvSpPr txBox="1"/>
          <p:nvPr/>
        </p:nvSpPr>
        <p:spPr>
          <a:xfrm>
            <a:off x="10657956" y="2972093"/>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81513759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913806" y="2126942"/>
            <a:ext cx="10355327" cy="2511835"/>
          </a:xfrm>
        </p:spPr>
        <p:txBody>
          <a:bodyPr anchor="b"/>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94" y="4650556"/>
            <a:ext cx="10353763" cy="1140644"/>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71E66AB-EFE1-444C-9A4D-4B7EB38551AC}" type="datetimeFigureOut">
              <a:rPr lang="en-US" smtClean="0"/>
              <a:t>6/18/2026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C473EEE-C647-40AB-BD0B-EC8B4EA61E5A}" type="slidenum">
              <a:rPr lang="en-US" smtClean="0"/>
              <a:t>‹#›</a:t>
            </a:fld>
            <a:endParaRPr lang="en-US"/>
          </a:p>
        </p:txBody>
      </p:sp>
    </p:spTree>
    <p:extLst>
      <p:ext uri="{BB962C8B-B14F-4D97-AF65-F5344CB8AC3E}">
        <p14:creationId xmlns:p14="http://schemas.microsoft.com/office/powerpoint/2010/main" val="428656698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913794" y="609600"/>
            <a:ext cx="10353762" cy="1325563"/>
          </a:xfrm>
        </p:spPr>
        <p:txBody>
          <a:bodyPr/>
          <a:lstStyle/>
          <a:p>
            <a:r>
              <a:rPr lang="en-US"/>
              <a:t>Click to edit Master title style</a:t>
            </a:r>
            <a:endParaRPr lang="en-US" dirty="0"/>
          </a:p>
        </p:txBody>
      </p:sp>
      <p:sp>
        <p:nvSpPr>
          <p:cNvPr id="7" name="Text Placeholder 2"/>
          <p:cNvSpPr>
            <a:spLocks noGrp="1"/>
          </p:cNvSpPr>
          <p:nvPr>
            <p:ph type="body" idx="1"/>
          </p:nvPr>
        </p:nvSpPr>
        <p:spPr>
          <a:xfrm>
            <a:off x="913794" y="2088319"/>
            <a:ext cx="3298956" cy="823305"/>
          </a:xfrm>
        </p:spPr>
        <p:txBody>
          <a:bodyPr anchor="b">
            <a:noAutofit/>
          </a:bodyPr>
          <a:lstStyle>
            <a:lvl1pPr marL="0" indent="0" algn="ctr">
              <a:lnSpc>
                <a:spcPct val="100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913794" y="2911624"/>
            <a:ext cx="3298956" cy="2879576"/>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444878" y="2088320"/>
            <a:ext cx="3298558" cy="823304"/>
          </a:xfrm>
        </p:spPr>
        <p:txBody>
          <a:bodyPr anchor="b">
            <a:noAutofit/>
          </a:bodyPr>
          <a:lstStyle>
            <a:lvl1pPr marL="0" indent="0" algn="ctr">
              <a:lnSpc>
                <a:spcPct val="100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444878" y="2911624"/>
            <a:ext cx="3299821" cy="2879576"/>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973298" y="2088320"/>
            <a:ext cx="3291211" cy="823304"/>
          </a:xfrm>
        </p:spPr>
        <p:txBody>
          <a:bodyPr anchor="b">
            <a:noAutofit/>
          </a:bodyPr>
          <a:lstStyle>
            <a:lvl1pPr marL="0" indent="0" algn="ctr">
              <a:lnSpc>
                <a:spcPct val="100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7976346" y="2911624"/>
            <a:ext cx="3291211" cy="2879576"/>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471E66AB-EFE1-444C-9A4D-4B7EB38551AC}" type="datetimeFigureOut">
              <a:rPr lang="en-US" smtClean="0"/>
              <a:t>6/18/2026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EC473EEE-C647-40AB-BD0B-EC8B4EA61E5A}" type="slidenum">
              <a:rPr lang="en-US" smtClean="0"/>
              <a:t>‹#›</a:t>
            </a:fld>
            <a:endParaRPr lang="en-US"/>
          </a:p>
        </p:txBody>
      </p:sp>
    </p:spTree>
    <p:extLst>
      <p:ext uri="{BB962C8B-B14F-4D97-AF65-F5344CB8AC3E}">
        <p14:creationId xmlns:p14="http://schemas.microsoft.com/office/powerpoint/2010/main" val="332623791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913795" y="609600"/>
            <a:ext cx="10353762" cy="1325563"/>
          </a:xfrm>
        </p:spPr>
        <p:txBody>
          <a:bodyPr/>
          <a:lstStyle/>
          <a:p>
            <a:r>
              <a:rPr lang="en-US"/>
              <a:t>Click to edit Master title style</a:t>
            </a:r>
            <a:endParaRPr lang="en-US" dirty="0"/>
          </a:p>
        </p:txBody>
      </p:sp>
      <p:sp>
        <p:nvSpPr>
          <p:cNvPr id="19" name="Text Placeholder 2"/>
          <p:cNvSpPr>
            <a:spLocks noGrp="1"/>
          </p:cNvSpPr>
          <p:nvPr>
            <p:ph type="body" idx="1"/>
          </p:nvPr>
        </p:nvSpPr>
        <p:spPr>
          <a:xfrm>
            <a:off x="913795" y="4195899"/>
            <a:ext cx="3298955" cy="576262"/>
          </a:xfrm>
        </p:spPr>
        <p:txBody>
          <a:bodyPr anchor="b">
            <a:noAutofit/>
          </a:bodyPr>
          <a:lstStyle>
            <a:lvl1pPr marL="0" indent="0" algn="ctr">
              <a:lnSpc>
                <a:spcPct val="100000"/>
              </a:lnSpc>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1092020" y="2298987"/>
            <a:ext cx="2940050" cy="1524000"/>
          </a:xfrm>
          <a:prstGeom prst="roundRect">
            <a:avLst>
              <a:gd name="adj" fmla="val 0"/>
            </a:avLst>
          </a:prstGeom>
          <a:noFill/>
          <a:ln w="14605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913795" y="4772161"/>
            <a:ext cx="3298955" cy="101903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442701" y="4195899"/>
            <a:ext cx="3298983" cy="576262"/>
          </a:xfrm>
        </p:spPr>
        <p:txBody>
          <a:bodyPr anchor="b">
            <a:noAutofit/>
          </a:bodyPr>
          <a:lstStyle>
            <a:lvl1pPr marL="0" indent="0" algn="ctr">
              <a:lnSpc>
                <a:spcPct val="100000"/>
              </a:lnSpc>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568996" y="2298987"/>
            <a:ext cx="2930525" cy="1524000"/>
          </a:xfrm>
          <a:prstGeom prst="roundRect">
            <a:avLst>
              <a:gd name="adj" fmla="val 0"/>
            </a:avLst>
          </a:prstGeom>
          <a:noFill/>
          <a:ln w="14605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4441348" y="4772160"/>
            <a:ext cx="3300336" cy="101903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973423" y="4195899"/>
            <a:ext cx="3289900" cy="576262"/>
          </a:xfrm>
        </p:spPr>
        <p:txBody>
          <a:bodyPr anchor="b">
            <a:noAutofit/>
          </a:bodyPr>
          <a:lstStyle>
            <a:lvl1pPr marL="0" indent="0" algn="ctr">
              <a:lnSpc>
                <a:spcPct val="100000"/>
              </a:lnSpc>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8152803" y="2298987"/>
            <a:ext cx="2932113" cy="1524000"/>
          </a:xfrm>
          <a:prstGeom prst="roundRect">
            <a:avLst>
              <a:gd name="adj" fmla="val 0"/>
            </a:avLst>
          </a:prstGeom>
          <a:noFill/>
          <a:ln w="14605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7973298" y="4772161"/>
            <a:ext cx="3294258" cy="1019037"/>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471E66AB-EFE1-444C-9A4D-4B7EB38551AC}" type="datetimeFigureOut">
              <a:rPr lang="en-US" smtClean="0"/>
              <a:t>6/18/2026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EC473EEE-C647-40AB-BD0B-EC8B4EA61E5A}" type="slidenum">
              <a:rPr lang="en-US" smtClean="0"/>
              <a:t>‹#›</a:t>
            </a:fld>
            <a:endParaRPr lang="en-US"/>
          </a:p>
        </p:txBody>
      </p:sp>
    </p:spTree>
    <p:extLst>
      <p:ext uri="{BB962C8B-B14F-4D97-AF65-F5344CB8AC3E}">
        <p14:creationId xmlns:p14="http://schemas.microsoft.com/office/powerpoint/2010/main" val="147442819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71E66AB-EFE1-444C-9A4D-4B7EB38551AC}" type="datetimeFigureOut">
              <a:rPr lang="en-US" smtClean="0"/>
              <a:t>6/18/2026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C473EEE-C647-40AB-BD0B-EC8B4EA61E5A}" type="slidenum">
              <a:rPr lang="en-US" smtClean="0"/>
              <a:t>‹#›</a:t>
            </a:fld>
            <a:endParaRPr lang="en-US"/>
          </a:p>
        </p:txBody>
      </p:sp>
    </p:spTree>
    <p:extLst>
      <p:ext uri="{BB962C8B-B14F-4D97-AF65-F5344CB8AC3E}">
        <p14:creationId xmlns:p14="http://schemas.microsoft.com/office/powerpoint/2010/main" val="353416497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609599"/>
            <a:ext cx="2542657" cy="5181601"/>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913794" y="609599"/>
            <a:ext cx="7658705" cy="518160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71E66AB-EFE1-444C-9A4D-4B7EB38551AC}" type="datetimeFigureOut">
              <a:rPr lang="en-US" smtClean="0"/>
              <a:t>6/18/2026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C473EEE-C647-40AB-BD0B-EC8B4EA61E5A}" type="slidenum">
              <a:rPr lang="en-US" smtClean="0"/>
              <a:t>‹#›</a:t>
            </a:fld>
            <a:endParaRPr lang="en-US"/>
          </a:p>
        </p:txBody>
      </p:sp>
    </p:spTree>
    <p:extLst>
      <p:ext uri="{BB962C8B-B14F-4D97-AF65-F5344CB8AC3E}">
        <p14:creationId xmlns:p14="http://schemas.microsoft.com/office/powerpoint/2010/main" val="403142669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913795" y="609600"/>
            <a:ext cx="10353761" cy="1326321"/>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913795" y="2096064"/>
            <a:ext cx="10353762" cy="369513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78736" y="5883275"/>
            <a:ext cx="2743200" cy="365125"/>
          </a:xfrm>
          <a:prstGeom prst="rect">
            <a:avLst/>
          </a:prstGeom>
        </p:spPr>
        <p:txBody>
          <a:bodyPr vert="horz" lIns="91440" tIns="45720" rIns="91440" bIns="45720" rtlCol="0" anchor="ctr"/>
          <a:lstStyle>
            <a:lvl1pPr algn="r">
              <a:defRPr sz="1000">
                <a:solidFill>
                  <a:schemeClr val="tx1">
                    <a:tint val="75000"/>
                  </a:schemeClr>
                </a:solidFill>
              </a:defRPr>
            </a:lvl1pPr>
          </a:lstStyle>
          <a:p>
            <a:fld id="{471E66AB-EFE1-444C-9A4D-4B7EB38551AC}" type="datetimeFigureOut">
              <a:rPr lang="en-US" smtClean="0"/>
              <a:t>6/18/2026</a:t>
            </a:fld>
            <a:endParaRPr lang="en-US"/>
          </a:p>
        </p:txBody>
      </p:sp>
      <p:sp>
        <p:nvSpPr>
          <p:cNvPr id="5" name="Footer Placeholder 4"/>
          <p:cNvSpPr>
            <a:spLocks noGrp="1"/>
          </p:cNvSpPr>
          <p:nvPr>
            <p:ph type="ftr" sz="quarter" idx="3"/>
          </p:nvPr>
        </p:nvSpPr>
        <p:spPr>
          <a:xfrm>
            <a:off x="913794" y="5883275"/>
            <a:ext cx="6672865" cy="365125"/>
          </a:xfrm>
          <a:prstGeom prst="rect">
            <a:avLst/>
          </a:prstGeom>
        </p:spPr>
        <p:txBody>
          <a:bodyPr vert="horz" lIns="91440" tIns="45720" rIns="91440" bIns="45720" rtlCol="0" anchor="ctr"/>
          <a:lstStyle>
            <a:lvl1pPr algn="l">
              <a:defRPr sz="10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10514011" y="5883275"/>
            <a:ext cx="753545" cy="365125"/>
          </a:xfrm>
          <a:prstGeom prst="rect">
            <a:avLst/>
          </a:prstGeom>
        </p:spPr>
        <p:txBody>
          <a:bodyPr vert="horz" lIns="91440" tIns="45720" rIns="91440" bIns="45720" rtlCol="0" anchor="ctr"/>
          <a:lstStyle>
            <a:lvl1pPr algn="r">
              <a:defRPr sz="1000">
                <a:solidFill>
                  <a:schemeClr val="tx1">
                    <a:tint val="75000"/>
                  </a:schemeClr>
                </a:solidFill>
              </a:defRPr>
            </a:lvl1pPr>
          </a:lstStyle>
          <a:p>
            <a:fld id="{EC473EEE-C647-40AB-BD0B-EC8B4EA61E5A}" type="slidenum">
              <a:rPr lang="en-US" smtClean="0"/>
              <a:t>‹#›</a:t>
            </a:fld>
            <a:endParaRPr lang="en-US"/>
          </a:p>
        </p:txBody>
      </p:sp>
    </p:spTree>
    <p:extLst>
      <p:ext uri="{BB962C8B-B14F-4D97-AF65-F5344CB8AC3E}">
        <p14:creationId xmlns:p14="http://schemas.microsoft.com/office/powerpoint/2010/main" val="2212948281"/>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ctr" defTabSz="914400" rtl="0" eaLnBrk="1" latinLnBrk="0" hangingPunct="1">
        <a:lnSpc>
          <a:spcPct val="90000"/>
        </a:lnSpc>
        <a:spcBef>
          <a:spcPct val="0"/>
        </a:spcBef>
        <a:buNone/>
        <a:defRPr sz="3400" b="1" i="0" kern="1200" cap="all">
          <a:solidFill>
            <a:schemeClr val="tx1"/>
          </a:solidFill>
          <a:effectLst>
            <a:outerShdw blurRad="50800" dist="63500" dir="2700000" algn="tl" rotWithShape="0">
              <a:srgbClr val="000000">
                <a:alpha val="48000"/>
              </a:srgbClr>
            </a:outerShdw>
          </a:effectLst>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2000" kern="1200">
          <a:solidFill>
            <a:schemeClr val="tx1"/>
          </a:solidFill>
          <a:effectLst>
            <a:outerShdw blurRad="50800" dist="38100" dir="2700000" algn="tl" rotWithShape="0">
              <a:srgbClr val="000000">
                <a:alpha val="48000"/>
              </a:srgbClr>
            </a:outerShdw>
          </a:effectLst>
          <a:latin typeface="+mn-lt"/>
          <a:ea typeface="+mn-ea"/>
          <a:cs typeface="+mn-cs"/>
        </a:defRPr>
      </a:lvl1pPr>
      <a:lvl2pPr marL="685800" indent="-228600" algn="l" defTabSz="914400" rtl="0" eaLnBrk="1" latinLnBrk="0" hangingPunct="1">
        <a:lnSpc>
          <a:spcPct val="120000"/>
        </a:lnSpc>
        <a:spcBef>
          <a:spcPts val="500"/>
        </a:spcBef>
        <a:buFont typeface="Arial" panose="020B0604020202020204" pitchFamily="34" charset="0"/>
        <a:buChar char="•"/>
        <a:defRPr sz="1800" kern="1200">
          <a:solidFill>
            <a:schemeClr val="tx1"/>
          </a:solidFill>
          <a:effectLst>
            <a:outerShdw blurRad="50800" dist="38100" dir="2700000" algn="tl" rotWithShape="0">
              <a:srgbClr val="000000">
                <a:alpha val="48000"/>
              </a:srgbClr>
            </a:outerShdw>
          </a:effectLst>
          <a:latin typeface="+mn-lt"/>
          <a:ea typeface="+mn-ea"/>
          <a:cs typeface="+mn-cs"/>
        </a:defRPr>
      </a:lvl2pPr>
      <a:lvl3pPr marL="11430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effectLst>
            <a:outerShdw blurRad="50800" dist="38100" dir="2700000" algn="tl" rotWithShape="0">
              <a:srgbClr val="000000">
                <a:alpha val="48000"/>
              </a:srgbClr>
            </a:outerShdw>
          </a:effectLst>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effectLst>
            <a:outerShdw blurRad="50800" dist="38100" dir="2700000" algn="tl" rotWithShape="0">
              <a:srgbClr val="000000">
                <a:alpha val="48000"/>
              </a:srgbClr>
            </a:outerShdw>
          </a:effectLst>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5pPr>
      <a:lvl6pPr marL="25146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6pPr>
      <a:lvl7pPr marL="29718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7pPr>
      <a:lvl8pPr marL="34290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8pPr>
      <a:lvl9pPr marL="38862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jpg"/><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1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hyperlink" Target="https://orcid.org/0009-0003-5540-6630" TargetMode="External"/><Relationship Id="rId2" Type="http://schemas.openxmlformats.org/officeDocument/2006/relationships/hyperlink" Target="mailto:victoradejare04@gmaiil.com"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90DF76-993F-BC88-C239-72FD1B5649C6}"/>
              </a:ext>
            </a:extLst>
          </p:cNvPr>
          <p:cNvSpPr>
            <a:spLocks noGrp="1"/>
          </p:cNvSpPr>
          <p:nvPr>
            <p:ph type="ctrTitle"/>
          </p:nvPr>
        </p:nvSpPr>
        <p:spPr>
          <a:xfrm>
            <a:off x="-270387" y="2432357"/>
            <a:ext cx="12732774" cy="3633335"/>
          </a:xfrm>
        </p:spPr>
        <p:txBody>
          <a:bodyPr>
            <a:normAutofit/>
          </a:bodyPr>
          <a:lstStyle/>
          <a:p>
            <a:r>
              <a:rPr lang="en-US" sz="3200" dirty="0">
                <a:effectLst/>
                <a:latin typeface="Aptos" panose="020B0004020202020204" pitchFamily="34" charset="0"/>
              </a:rPr>
              <a:t>Simbi Logistics Financial Performance Report</a:t>
            </a:r>
            <a:br>
              <a:rPr lang="en-US" sz="3200" dirty="0">
                <a:effectLst/>
                <a:latin typeface="Aptos" panose="020B0004020202020204" pitchFamily="34" charset="0"/>
              </a:rPr>
            </a:br>
            <a:r>
              <a:rPr lang="en-US" sz="3200" dirty="0">
                <a:effectLst/>
                <a:latin typeface="Aptos" panose="020B0004020202020204" pitchFamily="34" charset="0"/>
              </a:rPr>
              <a:t>Prepared By</a:t>
            </a:r>
            <a:br>
              <a:rPr lang="en-US" sz="3200" dirty="0">
                <a:effectLst/>
                <a:latin typeface="Aptos" panose="020B0004020202020204" pitchFamily="34" charset="0"/>
              </a:rPr>
            </a:br>
            <a:r>
              <a:rPr lang="en-US" sz="3200" dirty="0">
                <a:effectLst/>
                <a:latin typeface="Aptos" panose="020B0004020202020204" pitchFamily="34" charset="0"/>
              </a:rPr>
              <a:t>Adebiyi Victor </a:t>
            </a:r>
            <a:r>
              <a:rPr lang="en-US" sz="3200" dirty="0" err="1">
                <a:effectLst/>
                <a:latin typeface="Aptos" panose="020B0004020202020204" pitchFamily="34" charset="0"/>
              </a:rPr>
              <a:t>Adejare</a:t>
            </a:r>
            <a:br>
              <a:rPr lang="en-US" sz="3200" dirty="0">
                <a:effectLst/>
                <a:latin typeface="Aptos" panose="020B0004020202020204" pitchFamily="34" charset="0"/>
              </a:rPr>
            </a:br>
            <a:r>
              <a:rPr lang="en-US" sz="3200" dirty="0" err="1">
                <a:effectLst/>
                <a:latin typeface="Aptos" panose="020B0004020202020204" pitchFamily="34" charset="0"/>
              </a:rPr>
              <a:t>Wetin</a:t>
            </a:r>
            <a:r>
              <a:rPr lang="en-US" sz="3200" dirty="0">
                <a:effectLst/>
                <a:latin typeface="Aptos" panose="020B0004020202020204" pitchFamily="34" charset="0"/>
              </a:rPr>
              <a:t> Dey Code Academy</a:t>
            </a:r>
            <a:br>
              <a:rPr lang="en-US" sz="3200" dirty="0">
                <a:effectLst/>
                <a:latin typeface="Aptos" panose="020B0004020202020204" pitchFamily="34" charset="0"/>
              </a:rPr>
            </a:br>
            <a:r>
              <a:rPr lang="en-US" sz="3200" dirty="0">
                <a:effectLst/>
                <a:latin typeface="Aptos" panose="020B0004020202020204" pitchFamily="34" charset="0"/>
              </a:rPr>
              <a:t>June, 2026.</a:t>
            </a:r>
            <a:br>
              <a:rPr lang="en-US" sz="3200" dirty="0">
                <a:effectLst/>
                <a:latin typeface="Aptos" panose="020B0004020202020204" pitchFamily="34" charset="0"/>
              </a:rPr>
            </a:br>
            <a:br>
              <a:rPr lang="en-US" sz="3200" dirty="0">
                <a:effectLst/>
                <a:latin typeface="Aptos" panose="020B0004020202020204" pitchFamily="34" charset="0"/>
              </a:rPr>
            </a:br>
            <a:endParaRPr lang="en-US" sz="3200" dirty="0">
              <a:latin typeface="Aptos" panose="020B0004020202020204" pitchFamily="34" charset="0"/>
            </a:endParaRPr>
          </a:p>
        </p:txBody>
      </p:sp>
      <p:pic>
        <p:nvPicPr>
          <p:cNvPr id="4" name="Picture 3">
            <a:extLst>
              <a:ext uri="{FF2B5EF4-FFF2-40B4-BE49-F238E27FC236}">
                <a16:creationId xmlns:a16="http://schemas.microsoft.com/office/drawing/2014/main" id="{B73808A6-4152-5BDD-BDF7-BFFD94A4D19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966283" y="933187"/>
            <a:ext cx="1937856" cy="1937856"/>
          </a:xfrm>
          <a:prstGeom prst="rect">
            <a:avLst/>
          </a:prstGeom>
        </p:spPr>
      </p:pic>
    </p:spTree>
    <p:extLst>
      <p:ext uri="{BB962C8B-B14F-4D97-AF65-F5344CB8AC3E}">
        <p14:creationId xmlns:p14="http://schemas.microsoft.com/office/powerpoint/2010/main" val="22531102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A59524-0C6F-97E1-EEFE-E9450E55E3E1}"/>
              </a:ext>
            </a:extLst>
          </p:cNvPr>
          <p:cNvSpPr>
            <a:spLocks noGrp="1"/>
          </p:cNvSpPr>
          <p:nvPr>
            <p:ph type="title"/>
          </p:nvPr>
        </p:nvSpPr>
        <p:spPr>
          <a:xfrm>
            <a:off x="913795" y="0"/>
            <a:ext cx="10353761" cy="1326321"/>
          </a:xfrm>
        </p:spPr>
        <p:txBody>
          <a:bodyPr/>
          <a:lstStyle/>
          <a:p>
            <a:r>
              <a:rPr lang="en-US" dirty="0">
                <a:latin typeface="Aptos" panose="020B0004020202020204" pitchFamily="34" charset="0"/>
              </a:rPr>
              <a:t>Outline</a:t>
            </a:r>
          </a:p>
        </p:txBody>
      </p:sp>
      <p:sp>
        <p:nvSpPr>
          <p:cNvPr id="3" name="Content Placeholder 2">
            <a:extLst>
              <a:ext uri="{FF2B5EF4-FFF2-40B4-BE49-F238E27FC236}">
                <a16:creationId xmlns:a16="http://schemas.microsoft.com/office/drawing/2014/main" id="{18024752-9C2A-2262-B151-63A015B40DC5}"/>
              </a:ext>
            </a:extLst>
          </p:cNvPr>
          <p:cNvSpPr>
            <a:spLocks noGrp="1"/>
          </p:cNvSpPr>
          <p:nvPr>
            <p:ph idx="1"/>
          </p:nvPr>
        </p:nvSpPr>
        <p:spPr>
          <a:xfrm>
            <a:off x="913794" y="1152167"/>
            <a:ext cx="10353762" cy="3695136"/>
          </a:xfrm>
        </p:spPr>
        <p:txBody>
          <a:bodyPr>
            <a:normAutofit fontScale="77500" lnSpcReduction="20000"/>
          </a:bodyPr>
          <a:lstStyle/>
          <a:p>
            <a:pPr lvl="0"/>
            <a:r>
              <a:rPr lang="en-US" dirty="0">
                <a:effectLst/>
                <a:latin typeface="Aptos" panose="020B0004020202020204" pitchFamily="34" charset="0"/>
              </a:rPr>
              <a:t>Introduction</a:t>
            </a:r>
          </a:p>
          <a:p>
            <a:pPr lvl="0"/>
            <a:r>
              <a:rPr lang="en-US" dirty="0">
                <a:effectLst/>
                <a:latin typeface="Aptos" panose="020B0004020202020204" pitchFamily="34" charset="0"/>
              </a:rPr>
              <a:t>Data Source and Overview</a:t>
            </a:r>
          </a:p>
          <a:p>
            <a:pPr lvl="0"/>
            <a:r>
              <a:rPr lang="en-US" dirty="0">
                <a:effectLst/>
                <a:latin typeface="Aptos" panose="020B0004020202020204" pitchFamily="34" charset="0"/>
              </a:rPr>
              <a:t>Objectives</a:t>
            </a:r>
          </a:p>
          <a:p>
            <a:pPr lvl="0"/>
            <a:r>
              <a:rPr lang="en-US" dirty="0">
                <a:effectLst/>
                <a:latin typeface="Aptos" panose="020B0004020202020204" pitchFamily="34" charset="0"/>
              </a:rPr>
              <a:t>Data Cleaning Process</a:t>
            </a:r>
          </a:p>
          <a:p>
            <a:pPr lvl="0"/>
            <a:r>
              <a:rPr lang="en-US" dirty="0">
                <a:effectLst/>
                <a:latin typeface="Aptos" panose="020B0004020202020204" pitchFamily="34" charset="0"/>
              </a:rPr>
              <a:t>Data Transformation, Analysis and Insights</a:t>
            </a:r>
          </a:p>
          <a:p>
            <a:pPr lvl="0"/>
            <a:r>
              <a:rPr lang="en-US" dirty="0">
                <a:effectLst/>
                <a:latin typeface="Aptos" panose="020B0004020202020204" pitchFamily="34" charset="0"/>
              </a:rPr>
              <a:t>Visualization</a:t>
            </a:r>
          </a:p>
          <a:p>
            <a:pPr lvl="0"/>
            <a:r>
              <a:rPr lang="en-US" dirty="0">
                <a:effectLst/>
                <a:latin typeface="Aptos" panose="020B0004020202020204" pitchFamily="34" charset="0"/>
              </a:rPr>
              <a:t>Conclusion</a:t>
            </a:r>
          </a:p>
          <a:p>
            <a:pPr lvl="0"/>
            <a:r>
              <a:rPr lang="en-US" dirty="0">
                <a:effectLst/>
                <a:latin typeface="Aptos" panose="020B0004020202020204" pitchFamily="34" charset="0"/>
              </a:rPr>
              <a:t>Recommendations</a:t>
            </a:r>
          </a:p>
          <a:p>
            <a:pPr lvl="0"/>
            <a:r>
              <a:rPr lang="en-US" dirty="0">
                <a:effectLst/>
                <a:latin typeface="Aptos" panose="020B0004020202020204" pitchFamily="34" charset="0"/>
              </a:rPr>
              <a:t>Appreciation</a:t>
            </a:r>
          </a:p>
          <a:p>
            <a:pPr lvl="0"/>
            <a:r>
              <a:rPr lang="en-US" dirty="0">
                <a:effectLst/>
                <a:latin typeface="Aptos" panose="020B0004020202020204" pitchFamily="34" charset="0"/>
              </a:rPr>
              <a:t>Contact Details</a:t>
            </a:r>
          </a:p>
          <a:p>
            <a:endParaRPr lang="en-US" dirty="0"/>
          </a:p>
        </p:txBody>
      </p:sp>
    </p:spTree>
    <p:extLst>
      <p:ext uri="{BB962C8B-B14F-4D97-AF65-F5344CB8AC3E}">
        <p14:creationId xmlns:p14="http://schemas.microsoft.com/office/powerpoint/2010/main" val="262424205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B88A9F-4707-689A-5F3A-51D44CBE27C2}"/>
              </a:ext>
            </a:extLst>
          </p:cNvPr>
          <p:cNvSpPr>
            <a:spLocks noGrp="1"/>
          </p:cNvSpPr>
          <p:nvPr>
            <p:ph type="title"/>
          </p:nvPr>
        </p:nvSpPr>
        <p:spPr>
          <a:xfrm>
            <a:off x="898637" y="0"/>
            <a:ext cx="10353761" cy="1326321"/>
          </a:xfrm>
        </p:spPr>
        <p:txBody>
          <a:bodyPr/>
          <a:lstStyle/>
          <a:p>
            <a:r>
              <a:rPr lang="en-US" dirty="0">
                <a:latin typeface="Aptos" panose="020B0004020202020204" pitchFamily="34" charset="0"/>
              </a:rPr>
              <a:t>Introduction</a:t>
            </a:r>
          </a:p>
        </p:txBody>
      </p:sp>
      <p:sp>
        <p:nvSpPr>
          <p:cNvPr id="3" name="Content Placeholder 2">
            <a:extLst>
              <a:ext uri="{FF2B5EF4-FFF2-40B4-BE49-F238E27FC236}">
                <a16:creationId xmlns:a16="http://schemas.microsoft.com/office/drawing/2014/main" id="{BB7B0FA2-7179-E561-0717-E079851F851F}"/>
              </a:ext>
            </a:extLst>
          </p:cNvPr>
          <p:cNvSpPr>
            <a:spLocks noGrp="1"/>
          </p:cNvSpPr>
          <p:nvPr>
            <p:ph idx="1"/>
          </p:nvPr>
        </p:nvSpPr>
        <p:spPr>
          <a:xfrm>
            <a:off x="898636" y="1170038"/>
            <a:ext cx="10353761" cy="5161935"/>
          </a:xfrm>
        </p:spPr>
        <p:txBody>
          <a:bodyPr>
            <a:normAutofit/>
          </a:bodyPr>
          <a:lstStyle/>
          <a:p>
            <a:r>
              <a:rPr lang="en-US" dirty="0">
                <a:effectLst/>
                <a:latin typeface="Aptos" panose="020B0004020202020204" pitchFamily="34" charset="0"/>
              </a:rPr>
              <a:t>Simbi Logistics is a delivery and dispatch service provider, serving businesses, e-commerce vendors, and individuals across Akure and Ondo State. The company specializes in last-mile logistics, including door-to-door deliveries, interstate parcel transit, and neighborhood errand services, with a reputation for fast and reliable delivery.</a:t>
            </a:r>
          </a:p>
          <a:p>
            <a:pPr marL="0" indent="0">
              <a:buNone/>
            </a:pPr>
            <a:endParaRPr lang="en-US" dirty="0">
              <a:effectLst/>
              <a:latin typeface="Aptos" panose="020B0004020202020204" pitchFamily="34" charset="0"/>
            </a:endParaRPr>
          </a:p>
          <a:p>
            <a:pPr>
              <a:buFont typeface="Wingdings" panose="05000000000000000000" pitchFamily="2" charset="2"/>
              <a:buChar char="v"/>
            </a:pPr>
            <a:r>
              <a:rPr lang="en-US" b="1" dirty="0">
                <a:effectLst/>
                <a:latin typeface="Aptos" panose="020B0004020202020204" pitchFamily="34" charset="0"/>
              </a:rPr>
              <a:t>Purpose for Analysis;</a:t>
            </a:r>
            <a:endParaRPr lang="en-US" dirty="0">
              <a:effectLst/>
              <a:latin typeface="Aptos" panose="020B0004020202020204" pitchFamily="34" charset="0"/>
            </a:endParaRPr>
          </a:p>
          <a:p>
            <a:pPr lvl="0"/>
            <a:r>
              <a:rPr lang="en-US" dirty="0">
                <a:effectLst/>
                <a:latin typeface="Aptos" panose="020B0004020202020204" pitchFamily="34" charset="0"/>
              </a:rPr>
              <a:t>To evaluate the company's financial performance and support data-driven decision making. </a:t>
            </a:r>
          </a:p>
          <a:p>
            <a:pPr lvl="0"/>
            <a:r>
              <a:rPr lang="en-US" dirty="0">
                <a:effectLst/>
                <a:latin typeface="Aptos" panose="020B0004020202020204" pitchFamily="34" charset="0"/>
              </a:rPr>
              <a:t>To examine profitability, expenses, and customer order patterns, providing insights that can help improve operational efficiency, increase profitability, and support sustainable business growth.</a:t>
            </a:r>
          </a:p>
          <a:p>
            <a:endParaRPr lang="en-US" dirty="0"/>
          </a:p>
        </p:txBody>
      </p:sp>
    </p:spTree>
    <p:extLst>
      <p:ext uri="{BB962C8B-B14F-4D97-AF65-F5344CB8AC3E}">
        <p14:creationId xmlns:p14="http://schemas.microsoft.com/office/powerpoint/2010/main" val="208373747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138EB1-E370-D519-2323-9326B833A95C}"/>
              </a:ext>
            </a:extLst>
          </p:cNvPr>
          <p:cNvSpPr>
            <a:spLocks noGrp="1"/>
          </p:cNvSpPr>
          <p:nvPr>
            <p:ph type="title"/>
          </p:nvPr>
        </p:nvSpPr>
        <p:spPr>
          <a:xfrm>
            <a:off x="913795" y="0"/>
            <a:ext cx="10353761" cy="1326321"/>
          </a:xfrm>
        </p:spPr>
        <p:txBody>
          <a:bodyPr/>
          <a:lstStyle/>
          <a:p>
            <a:r>
              <a:rPr lang="en-US" dirty="0">
                <a:effectLst/>
                <a:latin typeface="Aptos" panose="020B0004020202020204" pitchFamily="34" charset="0"/>
              </a:rPr>
              <a:t>Data Source and Overview</a:t>
            </a:r>
            <a:br>
              <a:rPr lang="en-US" dirty="0">
                <a:effectLst/>
              </a:rPr>
            </a:br>
            <a:endParaRPr lang="en-US" dirty="0"/>
          </a:p>
        </p:txBody>
      </p:sp>
      <p:sp>
        <p:nvSpPr>
          <p:cNvPr id="3" name="Content Placeholder 2">
            <a:extLst>
              <a:ext uri="{FF2B5EF4-FFF2-40B4-BE49-F238E27FC236}">
                <a16:creationId xmlns:a16="http://schemas.microsoft.com/office/drawing/2014/main" id="{D800CA65-66BA-49D4-3187-91E088404989}"/>
              </a:ext>
            </a:extLst>
          </p:cNvPr>
          <p:cNvSpPr>
            <a:spLocks noGrp="1"/>
          </p:cNvSpPr>
          <p:nvPr>
            <p:ph idx="1"/>
          </p:nvPr>
        </p:nvSpPr>
        <p:spPr>
          <a:xfrm>
            <a:off x="913795" y="916193"/>
            <a:ext cx="10353762" cy="4943834"/>
          </a:xfrm>
        </p:spPr>
        <p:txBody>
          <a:bodyPr>
            <a:normAutofit fontScale="62500" lnSpcReduction="20000"/>
          </a:bodyPr>
          <a:lstStyle/>
          <a:p>
            <a:r>
              <a:rPr lang="en-US" sz="2900" dirty="0">
                <a:effectLst/>
                <a:latin typeface="Aptos" panose="020B0004020202020204" pitchFamily="34" charset="0"/>
              </a:rPr>
              <a:t>The dataset used for this analysis was provided by the CEO of Simbi Logistics and it covers the period from </a:t>
            </a:r>
            <a:r>
              <a:rPr lang="en-US" sz="2900" b="1" dirty="0">
                <a:effectLst/>
                <a:latin typeface="Aptos" panose="020B0004020202020204" pitchFamily="34" charset="0"/>
              </a:rPr>
              <a:t>13th January 2025</a:t>
            </a:r>
            <a:r>
              <a:rPr lang="en-US" sz="2900" dirty="0">
                <a:effectLst/>
                <a:latin typeface="Aptos" panose="020B0004020202020204" pitchFamily="34" charset="0"/>
              </a:rPr>
              <a:t> to </a:t>
            </a:r>
            <a:r>
              <a:rPr lang="en-US" sz="2900" b="1" dirty="0">
                <a:effectLst/>
                <a:latin typeface="Aptos" panose="020B0004020202020204" pitchFamily="34" charset="0"/>
              </a:rPr>
              <a:t>31st March 2026</a:t>
            </a:r>
            <a:r>
              <a:rPr lang="en-US" sz="2900" dirty="0">
                <a:effectLst/>
                <a:latin typeface="Aptos" panose="020B0004020202020204" pitchFamily="34" charset="0"/>
              </a:rPr>
              <a:t>. It consists of </a:t>
            </a:r>
            <a:r>
              <a:rPr lang="en-US" sz="2900" b="1" dirty="0">
                <a:effectLst/>
                <a:latin typeface="Aptos" panose="020B0004020202020204" pitchFamily="34" charset="0"/>
              </a:rPr>
              <a:t>442 rows</a:t>
            </a:r>
            <a:r>
              <a:rPr lang="en-US" sz="2900" dirty="0">
                <a:effectLst/>
                <a:latin typeface="Aptos" panose="020B0004020202020204" pitchFamily="34" charset="0"/>
              </a:rPr>
              <a:t> and </a:t>
            </a:r>
            <a:r>
              <a:rPr lang="en-US" sz="2900" b="1" dirty="0">
                <a:effectLst/>
                <a:latin typeface="Aptos" panose="020B0004020202020204" pitchFamily="34" charset="0"/>
              </a:rPr>
              <a:t>12 columns</a:t>
            </a:r>
            <a:r>
              <a:rPr lang="en-US" sz="2900" dirty="0">
                <a:effectLst/>
                <a:latin typeface="Aptos" panose="020B0004020202020204" pitchFamily="34" charset="0"/>
              </a:rPr>
              <a:t>. The dataset contains the following fields:</a:t>
            </a:r>
          </a:p>
          <a:p>
            <a:pPr lvl="0"/>
            <a:r>
              <a:rPr lang="en-US" b="1" dirty="0">
                <a:effectLst/>
                <a:latin typeface="Aptos" panose="020B0004020202020204" pitchFamily="34" charset="0"/>
              </a:rPr>
              <a:t>_______________</a:t>
            </a:r>
            <a:endParaRPr lang="en-US" dirty="0">
              <a:effectLst/>
              <a:latin typeface="Aptos" panose="020B0004020202020204" pitchFamily="34" charset="0"/>
            </a:endParaRPr>
          </a:p>
          <a:p>
            <a:pPr lvl="0"/>
            <a:r>
              <a:rPr lang="en-US" b="1" dirty="0">
                <a:effectLst/>
                <a:latin typeface="Aptos" panose="020B0004020202020204" pitchFamily="34" charset="0"/>
              </a:rPr>
              <a:t>NO OF ORDERS</a:t>
            </a:r>
            <a:endParaRPr lang="en-US" dirty="0">
              <a:effectLst/>
              <a:latin typeface="Aptos" panose="020B0004020202020204" pitchFamily="34" charset="0"/>
            </a:endParaRPr>
          </a:p>
          <a:p>
            <a:pPr lvl="0"/>
            <a:r>
              <a:rPr lang="en-US" b="1" dirty="0">
                <a:effectLst/>
                <a:latin typeface="Aptos" panose="020B0004020202020204" pitchFamily="34" charset="0"/>
              </a:rPr>
              <a:t>INCOME</a:t>
            </a:r>
            <a:endParaRPr lang="en-US" dirty="0">
              <a:effectLst/>
              <a:latin typeface="Aptos" panose="020B0004020202020204" pitchFamily="34" charset="0"/>
            </a:endParaRPr>
          </a:p>
          <a:p>
            <a:pPr lvl="0"/>
            <a:r>
              <a:rPr lang="en-US" b="1" dirty="0">
                <a:effectLst/>
                <a:latin typeface="Aptos" panose="020B0004020202020204" pitchFamily="34" charset="0"/>
              </a:rPr>
              <a:t>FUEL</a:t>
            </a:r>
            <a:endParaRPr lang="en-US" dirty="0">
              <a:effectLst/>
              <a:latin typeface="Aptos" panose="020B0004020202020204" pitchFamily="34" charset="0"/>
            </a:endParaRPr>
          </a:p>
          <a:p>
            <a:pPr lvl="0"/>
            <a:r>
              <a:rPr lang="en-US" b="1" dirty="0">
                <a:effectLst/>
                <a:latin typeface="Aptos" panose="020B0004020202020204" pitchFamily="34" charset="0"/>
              </a:rPr>
              <a:t>AIRTIME</a:t>
            </a:r>
            <a:endParaRPr lang="en-US" dirty="0">
              <a:effectLst/>
              <a:latin typeface="Aptos" panose="020B0004020202020204" pitchFamily="34" charset="0"/>
            </a:endParaRPr>
          </a:p>
          <a:p>
            <a:pPr lvl="0"/>
            <a:r>
              <a:rPr lang="en-US" b="1" dirty="0">
                <a:effectLst/>
                <a:latin typeface="Aptos" panose="020B0004020202020204" pitchFamily="34" charset="0"/>
              </a:rPr>
              <a:t>SALARY</a:t>
            </a:r>
            <a:endParaRPr lang="en-US" dirty="0">
              <a:effectLst/>
              <a:latin typeface="Aptos" panose="020B0004020202020204" pitchFamily="34" charset="0"/>
            </a:endParaRPr>
          </a:p>
          <a:p>
            <a:pPr lvl="0"/>
            <a:r>
              <a:rPr lang="en-US" b="1" dirty="0">
                <a:effectLst/>
                <a:latin typeface="Aptos" panose="020B0004020202020204" pitchFamily="34" charset="0"/>
              </a:rPr>
              <a:t>REPAIR&amp;SERVI</a:t>
            </a:r>
            <a:endParaRPr lang="en-US" dirty="0">
              <a:effectLst/>
              <a:latin typeface="Aptos" panose="020B0004020202020204" pitchFamily="34" charset="0"/>
            </a:endParaRPr>
          </a:p>
          <a:p>
            <a:pPr lvl="0"/>
            <a:r>
              <a:rPr lang="en-US" b="1" dirty="0">
                <a:effectLst/>
                <a:latin typeface="Aptos" panose="020B0004020202020204" pitchFamily="34" charset="0"/>
              </a:rPr>
              <a:t>CMINISGCELLANEOU</a:t>
            </a:r>
            <a:endParaRPr lang="en-US" dirty="0">
              <a:effectLst/>
              <a:latin typeface="Aptos" panose="020B0004020202020204" pitchFamily="34" charset="0"/>
            </a:endParaRPr>
          </a:p>
          <a:p>
            <a:pPr lvl="0"/>
            <a:r>
              <a:rPr lang="en-US" b="1" dirty="0">
                <a:effectLst/>
                <a:latin typeface="Aptos" panose="020B0004020202020204" pitchFamily="34" charset="0"/>
              </a:rPr>
              <a:t>PSOLICE</a:t>
            </a:r>
            <a:endParaRPr lang="en-US" dirty="0">
              <a:effectLst/>
              <a:latin typeface="Aptos" panose="020B0004020202020204" pitchFamily="34" charset="0"/>
            </a:endParaRPr>
          </a:p>
          <a:p>
            <a:pPr lvl="0"/>
            <a:r>
              <a:rPr lang="en-US" b="1" dirty="0">
                <a:effectLst/>
                <a:latin typeface="Aptos" panose="020B0004020202020204" pitchFamily="34" charset="0"/>
              </a:rPr>
              <a:t>TOTAL EXPENS</a:t>
            </a:r>
            <a:endParaRPr lang="en-US" dirty="0">
              <a:effectLst/>
              <a:latin typeface="Aptos" panose="020B0004020202020204" pitchFamily="34" charset="0"/>
            </a:endParaRPr>
          </a:p>
          <a:p>
            <a:pPr lvl="0"/>
            <a:r>
              <a:rPr lang="en-US" b="1" dirty="0">
                <a:effectLst/>
                <a:latin typeface="Aptos" panose="020B0004020202020204" pitchFamily="34" charset="0"/>
              </a:rPr>
              <a:t>EBSALANCE</a:t>
            </a:r>
            <a:endParaRPr lang="en-US" dirty="0">
              <a:effectLst/>
              <a:latin typeface="Aptos" panose="020B0004020202020204" pitchFamily="34" charset="0"/>
            </a:endParaRPr>
          </a:p>
          <a:p>
            <a:r>
              <a:rPr lang="en-US" b="1" dirty="0">
                <a:effectLst/>
                <a:latin typeface="Aptos" panose="020B0004020202020204" pitchFamily="34" charset="0"/>
              </a:rPr>
              <a:t>No of Riders</a:t>
            </a:r>
            <a:endParaRPr lang="en-US" dirty="0">
              <a:latin typeface="Aptos" panose="020B0004020202020204" pitchFamily="34" charset="0"/>
            </a:endParaRPr>
          </a:p>
        </p:txBody>
      </p:sp>
    </p:spTree>
    <p:extLst>
      <p:ext uri="{BB962C8B-B14F-4D97-AF65-F5344CB8AC3E}">
        <p14:creationId xmlns:p14="http://schemas.microsoft.com/office/powerpoint/2010/main" val="252672507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A0036B-6100-EBC9-6296-C06B65093C1A}"/>
              </a:ext>
            </a:extLst>
          </p:cNvPr>
          <p:cNvSpPr>
            <a:spLocks noGrp="1"/>
          </p:cNvSpPr>
          <p:nvPr>
            <p:ph type="title"/>
          </p:nvPr>
        </p:nvSpPr>
        <p:spPr>
          <a:xfrm>
            <a:off x="913796" y="0"/>
            <a:ext cx="10353761" cy="1326321"/>
          </a:xfrm>
        </p:spPr>
        <p:txBody>
          <a:bodyPr/>
          <a:lstStyle/>
          <a:p>
            <a:r>
              <a:rPr lang="en-US" dirty="0">
                <a:effectLst/>
                <a:latin typeface="Aptos" panose="020B0004020202020204" pitchFamily="34" charset="0"/>
              </a:rPr>
              <a:t>Objectives</a:t>
            </a:r>
            <a:br>
              <a:rPr lang="en-US" dirty="0">
                <a:effectLst/>
              </a:rPr>
            </a:br>
            <a:endParaRPr lang="en-US" dirty="0"/>
          </a:p>
        </p:txBody>
      </p:sp>
      <p:sp>
        <p:nvSpPr>
          <p:cNvPr id="3" name="Content Placeholder 2">
            <a:extLst>
              <a:ext uri="{FF2B5EF4-FFF2-40B4-BE49-F238E27FC236}">
                <a16:creationId xmlns:a16="http://schemas.microsoft.com/office/drawing/2014/main" id="{6BBA1ECF-3A82-FFAF-65BD-B7BC5FE5C1B4}"/>
              </a:ext>
            </a:extLst>
          </p:cNvPr>
          <p:cNvSpPr>
            <a:spLocks noGrp="1"/>
          </p:cNvSpPr>
          <p:nvPr>
            <p:ph idx="1"/>
          </p:nvPr>
        </p:nvSpPr>
        <p:spPr>
          <a:xfrm>
            <a:off x="1002285" y="965354"/>
            <a:ext cx="10353762" cy="3695136"/>
          </a:xfrm>
        </p:spPr>
        <p:txBody>
          <a:bodyPr/>
          <a:lstStyle/>
          <a:p>
            <a:pPr lvl="0"/>
            <a:r>
              <a:rPr lang="en-US" dirty="0">
                <a:effectLst/>
                <a:latin typeface="Aptos" panose="020B0004020202020204" pitchFamily="34" charset="0"/>
              </a:rPr>
              <a:t>Monitor profitability and provide clear visibility into daily, weekly, and monthly financial performance.</a:t>
            </a:r>
          </a:p>
          <a:p>
            <a:pPr lvl="0"/>
            <a:r>
              <a:rPr lang="en-US" dirty="0">
                <a:effectLst/>
                <a:latin typeface="Aptos" panose="020B0004020202020204" pitchFamily="34" charset="0"/>
              </a:rPr>
              <a:t>Analyze order trends and patterns to understand business demand, operational performance, and revenue generation across different time periods.</a:t>
            </a:r>
          </a:p>
          <a:p>
            <a:pPr marL="0" indent="0">
              <a:buNone/>
            </a:pPr>
            <a:endParaRPr lang="en-US" dirty="0"/>
          </a:p>
        </p:txBody>
      </p:sp>
    </p:spTree>
    <p:extLst>
      <p:ext uri="{BB962C8B-B14F-4D97-AF65-F5344CB8AC3E}">
        <p14:creationId xmlns:p14="http://schemas.microsoft.com/office/powerpoint/2010/main" val="427757579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195268-C50C-736D-EEB1-8E80357C7EAD}"/>
              </a:ext>
            </a:extLst>
          </p:cNvPr>
          <p:cNvSpPr>
            <a:spLocks noGrp="1"/>
          </p:cNvSpPr>
          <p:nvPr>
            <p:ph type="title"/>
          </p:nvPr>
        </p:nvSpPr>
        <p:spPr>
          <a:xfrm>
            <a:off x="913795" y="-9838"/>
            <a:ext cx="10353761" cy="1326321"/>
          </a:xfrm>
        </p:spPr>
        <p:txBody>
          <a:bodyPr/>
          <a:lstStyle/>
          <a:p>
            <a:r>
              <a:rPr lang="en-US" dirty="0">
                <a:effectLst/>
                <a:latin typeface="Aptos" panose="020B0004020202020204" pitchFamily="34" charset="0"/>
              </a:rPr>
              <a:t>Data Cleaning Process</a:t>
            </a:r>
            <a:br>
              <a:rPr lang="en-US" dirty="0">
                <a:effectLst/>
                <a:latin typeface="Aptos" panose="020B0004020202020204" pitchFamily="34" charset="0"/>
              </a:rPr>
            </a:br>
            <a:endParaRPr lang="en-US" dirty="0">
              <a:latin typeface="Aptos" panose="020B0004020202020204" pitchFamily="34" charset="0"/>
            </a:endParaRPr>
          </a:p>
        </p:txBody>
      </p:sp>
      <p:sp>
        <p:nvSpPr>
          <p:cNvPr id="3" name="Content Placeholder 2">
            <a:extLst>
              <a:ext uri="{FF2B5EF4-FFF2-40B4-BE49-F238E27FC236}">
                <a16:creationId xmlns:a16="http://schemas.microsoft.com/office/drawing/2014/main" id="{EA39A48D-34E0-53A1-CB0B-F4C5440F5D1E}"/>
              </a:ext>
            </a:extLst>
          </p:cNvPr>
          <p:cNvSpPr>
            <a:spLocks noGrp="1"/>
          </p:cNvSpPr>
          <p:nvPr>
            <p:ph idx="1"/>
          </p:nvPr>
        </p:nvSpPr>
        <p:spPr>
          <a:xfrm>
            <a:off x="913796" y="1103006"/>
            <a:ext cx="10364410" cy="3916034"/>
          </a:xfrm>
        </p:spPr>
        <p:txBody>
          <a:bodyPr>
            <a:normAutofit/>
          </a:bodyPr>
          <a:lstStyle/>
          <a:p>
            <a:pPr lvl="0">
              <a:buFont typeface="Wingdings" panose="05000000000000000000" pitchFamily="2" charset="2"/>
              <a:buChar char="v"/>
            </a:pPr>
            <a:r>
              <a:rPr lang="en-US" b="1" dirty="0">
                <a:effectLst/>
                <a:latin typeface="Aptos" panose="020B0004020202020204" pitchFamily="34" charset="0"/>
              </a:rPr>
              <a:t>Tools used: </a:t>
            </a:r>
            <a:endParaRPr lang="en-US" dirty="0">
              <a:effectLst/>
              <a:latin typeface="Aptos" panose="020B0004020202020204" pitchFamily="34" charset="0"/>
            </a:endParaRPr>
          </a:p>
          <a:p>
            <a:pPr lvl="0"/>
            <a:r>
              <a:rPr lang="en-US" dirty="0">
                <a:effectLst/>
                <a:latin typeface="Aptos" panose="020B0004020202020204" pitchFamily="34" charset="0"/>
              </a:rPr>
              <a:t>ChatGPT (for conversion)</a:t>
            </a:r>
          </a:p>
          <a:p>
            <a:pPr lvl="0"/>
            <a:r>
              <a:rPr lang="en-US" dirty="0">
                <a:effectLst/>
                <a:latin typeface="Aptos" panose="020B0004020202020204" pitchFamily="34" charset="0"/>
              </a:rPr>
              <a:t>Excel (for cleaning)</a:t>
            </a:r>
          </a:p>
          <a:p>
            <a:pPr marL="0" indent="0">
              <a:buNone/>
            </a:pPr>
            <a:r>
              <a:rPr lang="en-US" b="1" dirty="0">
                <a:effectLst/>
                <a:latin typeface="Aptos" panose="020B0004020202020204" pitchFamily="34" charset="0"/>
              </a:rPr>
              <a:t> </a:t>
            </a:r>
            <a:endParaRPr lang="en-US" dirty="0">
              <a:effectLst/>
              <a:latin typeface="Aptos" panose="020B0004020202020204" pitchFamily="34" charset="0"/>
            </a:endParaRPr>
          </a:p>
          <a:p>
            <a:pPr lvl="0">
              <a:buFont typeface="Wingdings" panose="05000000000000000000" pitchFamily="2" charset="2"/>
              <a:buChar char="v"/>
            </a:pPr>
            <a:r>
              <a:rPr lang="en-US" b="1" dirty="0">
                <a:effectLst/>
                <a:latin typeface="Aptos" panose="020B0004020202020204" pitchFamily="34" charset="0"/>
              </a:rPr>
              <a:t>Cleaning Processes</a:t>
            </a:r>
            <a:endParaRPr lang="en-US" dirty="0">
              <a:effectLst/>
              <a:latin typeface="Aptos" panose="020B0004020202020204" pitchFamily="34" charset="0"/>
            </a:endParaRPr>
          </a:p>
          <a:p>
            <a:pPr lvl="0"/>
            <a:r>
              <a:rPr lang="en-US" b="1" dirty="0">
                <a:effectLst/>
                <a:latin typeface="Aptos" panose="020B0004020202020204" pitchFamily="34" charset="0"/>
              </a:rPr>
              <a:t>PDF-to-Excel Conversion:</a:t>
            </a:r>
            <a:r>
              <a:rPr lang="en-US" dirty="0">
                <a:effectLst/>
                <a:latin typeface="Aptos" panose="020B0004020202020204" pitchFamily="34" charset="0"/>
              </a:rPr>
              <a:t> The Simbi Logistics dataset was originally provided in a PDF file which I converted into an Excel file using ChatGPT. I launched the converted dataset in my Excel environment for data cleaning and preparation.</a:t>
            </a:r>
          </a:p>
          <a:p>
            <a:pPr marL="0" indent="0">
              <a:buNone/>
            </a:pPr>
            <a:endParaRPr lang="en-US" dirty="0"/>
          </a:p>
        </p:txBody>
      </p:sp>
    </p:spTree>
    <p:extLst>
      <p:ext uri="{BB962C8B-B14F-4D97-AF65-F5344CB8AC3E}">
        <p14:creationId xmlns:p14="http://schemas.microsoft.com/office/powerpoint/2010/main" val="194097675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5F75BC-467E-4DF6-E147-19C7E876145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5B92EE7-0AB5-6885-CA5D-05990C206569}"/>
              </a:ext>
            </a:extLst>
          </p:cNvPr>
          <p:cNvSpPr>
            <a:spLocks noGrp="1"/>
          </p:cNvSpPr>
          <p:nvPr>
            <p:ph type="title"/>
          </p:nvPr>
        </p:nvSpPr>
        <p:spPr>
          <a:xfrm>
            <a:off x="913795" y="0"/>
            <a:ext cx="10353761" cy="1326321"/>
          </a:xfrm>
        </p:spPr>
        <p:txBody>
          <a:bodyPr/>
          <a:lstStyle/>
          <a:p>
            <a:r>
              <a:rPr lang="en-US" dirty="0">
                <a:effectLst/>
                <a:latin typeface="Aptos" panose="020B0004020202020204" pitchFamily="34" charset="0"/>
              </a:rPr>
              <a:t>Data Cleaning Process CONT’D</a:t>
            </a:r>
            <a:endParaRPr lang="en-US" dirty="0"/>
          </a:p>
        </p:txBody>
      </p:sp>
      <p:sp>
        <p:nvSpPr>
          <p:cNvPr id="3" name="Content Placeholder 2">
            <a:extLst>
              <a:ext uri="{FF2B5EF4-FFF2-40B4-BE49-F238E27FC236}">
                <a16:creationId xmlns:a16="http://schemas.microsoft.com/office/drawing/2014/main" id="{5BDB7D05-2797-6894-C684-9BC8822BCC76}"/>
              </a:ext>
            </a:extLst>
          </p:cNvPr>
          <p:cNvSpPr>
            <a:spLocks noGrp="1"/>
          </p:cNvSpPr>
          <p:nvPr>
            <p:ph idx="1"/>
          </p:nvPr>
        </p:nvSpPr>
        <p:spPr>
          <a:xfrm>
            <a:off x="913795" y="935860"/>
            <a:ext cx="10353762" cy="3695136"/>
          </a:xfrm>
        </p:spPr>
        <p:txBody>
          <a:bodyPr/>
          <a:lstStyle/>
          <a:p>
            <a:pPr marL="0" indent="0">
              <a:buNone/>
            </a:pPr>
            <a:r>
              <a:rPr lang="en-US" b="1" dirty="0" err="1">
                <a:effectLst/>
              </a:rPr>
              <a:t>i</a:t>
            </a:r>
            <a:r>
              <a:rPr lang="en-US" b="1" dirty="0">
                <a:effectLst/>
              </a:rPr>
              <a:t>.         </a:t>
            </a:r>
            <a:r>
              <a:rPr lang="en-US" b="1" dirty="0">
                <a:effectLst/>
                <a:latin typeface="Aptos" panose="020B0004020202020204" pitchFamily="34" charset="0"/>
              </a:rPr>
              <a:t>PDF File</a:t>
            </a:r>
            <a:endParaRPr lang="en-US" dirty="0">
              <a:effectLst/>
              <a:latin typeface="Aptos" panose="020B0004020202020204" pitchFamily="34" charset="0"/>
            </a:endParaRPr>
          </a:p>
          <a:p>
            <a:endParaRPr lang="en-US" dirty="0"/>
          </a:p>
        </p:txBody>
      </p:sp>
      <p:pic>
        <p:nvPicPr>
          <p:cNvPr id="6" name="Picture 5">
            <a:extLst>
              <a:ext uri="{FF2B5EF4-FFF2-40B4-BE49-F238E27FC236}">
                <a16:creationId xmlns:a16="http://schemas.microsoft.com/office/drawing/2014/main" id="{771574C5-5DE1-0AE0-76A8-7012C2703E53}"/>
              </a:ext>
            </a:extLst>
          </p:cNvPr>
          <p:cNvPicPr>
            <a:picLocks noChangeAspect="1"/>
          </p:cNvPicPr>
          <p:nvPr/>
        </p:nvPicPr>
        <p:blipFill>
          <a:blip r:embed="rId2"/>
          <a:stretch>
            <a:fillRect/>
          </a:stretch>
        </p:blipFill>
        <p:spPr>
          <a:xfrm>
            <a:off x="1552326" y="1656081"/>
            <a:ext cx="8719433" cy="4744720"/>
          </a:xfrm>
          <a:prstGeom prst="rect">
            <a:avLst/>
          </a:prstGeom>
        </p:spPr>
      </p:pic>
    </p:spTree>
    <p:extLst>
      <p:ext uri="{BB962C8B-B14F-4D97-AF65-F5344CB8AC3E}">
        <p14:creationId xmlns:p14="http://schemas.microsoft.com/office/powerpoint/2010/main" val="29739756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2E81CD-158D-3799-B617-7C80F0A76F4F}"/>
              </a:ext>
            </a:extLst>
          </p:cNvPr>
          <p:cNvSpPr>
            <a:spLocks noGrp="1"/>
          </p:cNvSpPr>
          <p:nvPr>
            <p:ph type="title"/>
          </p:nvPr>
        </p:nvSpPr>
        <p:spPr>
          <a:xfrm>
            <a:off x="913795" y="0"/>
            <a:ext cx="10353761" cy="1326321"/>
          </a:xfrm>
        </p:spPr>
        <p:txBody>
          <a:bodyPr/>
          <a:lstStyle/>
          <a:p>
            <a:r>
              <a:rPr lang="en-US" dirty="0">
                <a:effectLst/>
                <a:latin typeface="Aptos" panose="020B0004020202020204" pitchFamily="34" charset="0"/>
              </a:rPr>
              <a:t>Data Cleaning Process CONT’D</a:t>
            </a:r>
            <a:endParaRPr lang="en-US" dirty="0"/>
          </a:p>
        </p:txBody>
      </p:sp>
      <p:sp>
        <p:nvSpPr>
          <p:cNvPr id="3" name="Content Placeholder 2">
            <a:extLst>
              <a:ext uri="{FF2B5EF4-FFF2-40B4-BE49-F238E27FC236}">
                <a16:creationId xmlns:a16="http://schemas.microsoft.com/office/drawing/2014/main" id="{9C3E1EA2-791C-6E40-3F52-6BA6AEFB37A3}"/>
              </a:ext>
            </a:extLst>
          </p:cNvPr>
          <p:cNvSpPr>
            <a:spLocks noGrp="1"/>
          </p:cNvSpPr>
          <p:nvPr>
            <p:ph idx="1"/>
          </p:nvPr>
        </p:nvSpPr>
        <p:spPr>
          <a:xfrm>
            <a:off x="913795" y="935860"/>
            <a:ext cx="10353762" cy="3695136"/>
          </a:xfrm>
        </p:spPr>
        <p:txBody>
          <a:bodyPr/>
          <a:lstStyle/>
          <a:p>
            <a:pPr marL="0" indent="0">
              <a:buNone/>
            </a:pPr>
            <a:r>
              <a:rPr lang="en-US" b="1" dirty="0">
                <a:effectLst/>
              </a:rPr>
              <a:t>ii.         </a:t>
            </a:r>
            <a:r>
              <a:rPr lang="en-US" b="1" dirty="0">
                <a:effectLst/>
                <a:latin typeface="Aptos" panose="020B0004020202020204" pitchFamily="34" charset="0"/>
              </a:rPr>
              <a:t>Excel File</a:t>
            </a:r>
            <a:endParaRPr lang="en-US" dirty="0">
              <a:effectLst/>
              <a:latin typeface="Aptos" panose="020B0004020202020204" pitchFamily="34" charset="0"/>
            </a:endParaRPr>
          </a:p>
          <a:p>
            <a:endParaRPr lang="en-US" dirty="0"/>
          </a:p>
        </p:txBody>
      </p:sp>
      <p:pic>
        <p:nvPicPr>
          <p:cNvPr id="5" name="Picture 4">
            <a:extLst>
              <a:ext uri="{FF2B5EF4-FFF2-40B4-BE49-F238E27FC236}">
                <a16:creationId xmlns:a16="http://schemas.microsoft.com/office/drawing/2014/main" id="{2B0A3121-9B82-ED01-DDBE-E4554BCD769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37066" y="1603852"/>
            <a:ext cx="8842444" cy="4944432"/>
          </a:xfrm>
          <a:prstGeom prst="rect">
            <a:avLst/>
          </a:prstGeom>
        </p:spPr>
      </p:pic>
    </p:spTree>
    <p:extLst>
      <p:ext uri="{BB962C8B-B14F-4D97-AF65-F5344CB8AC3E}">
        <p14:creationId xmlns:p14="http://schemas.microsoft.com/office/powerpoint/2010/main" val="257124502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11E9B5-E2A2-862A-16EF-3726FE791E0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F37F34C-D1BA-765E-700A-FC3B911B0C46}"/>
              </a:ext>
            </a:extLst>
          </p:cNvPr>
          <p:cNvSpPr>
            <a:spLocks noGrp="1"/>
          </p:cNvSpPr>
          <p:nvPr>
            <p:ph type="title"/>
          </p:nvPr>
        </p:nvSpPr>
        <p:spPr>
          <a:xfrm>
            <a:off x="913795" y="0"/>
            <a:ext cx="10353761" cy="1326321"/>
          </a:xfrm>
        </p:spPr>
        <p:txBody>
          <a:bodyPr/>
          <a:lstStyle/>
          <a:p>
            <a:r>
              <a:rPr lang="en-US" dirty="0">
                <a:effectLst/>
                <a:latin typeface="Aptos" panose="020B0004020202020204" pitchFamily="34" charset="0"/>
              </a:rPr>
              <a:t>Data Cleaning Process CONT’D</a:t>
            </a:r>
            <a:endParaRPr lang="en-US" dirty="0"/>
          </a:p>
        </p:txBody>
      </p:sp>
      <p:sp>
        <p:nvSpPr>
          <p:cNvPr id="3" name="Content Placeholder 2">
            <a:extLst>
              <a:ext uri="{FF2B5EF4-FFF2-40B4-BE49-F238E27FC236}">
                <a16:creationId xmlns:a16="http://schemas.microsoft.com/office/drawing/2014/main" id="{94720F26-C748-5E3A-BC00-F71B1D55F4FB}"/>
              </a:ext>
            </a:extLst>
          </p:cNvPr>
          <p:cNvSpPr>
            <a:spLocks noGrp="1"/>
          </p:cNvSpPr>
          <p:nvPr>
            <p:ph idx="1"/>
          </p:nvPr>
        </p:nvSpPr>
        <p:spPr>
          <a:xfrm>
            <a:off x="913795" y="935860"/>
            <a:ext cx="10353762" cy="3695136"/>
          </a:xfrm>
        </p:spPr>
        <p:txBody>
          <a:bodyPr>
            <a:normAutofit fontScale="25000" lnSpcReduction="20000"/>
          </a:bodyPr>
          <a:lstStyle/>
          <a:p>
            <a:pPr lvl="0"/>
            <a:r>
              <a:rPr lang="en-US" sz="7200" b="1" dirty="0">
                <a:effectLst/>
                <a:latin typeface="Aptos" panose="020B0004020202020204" pitchFamily="34" charset="0"/>
              </a:rPr>
              <a:t>Column Formatting:</a:t>
            </a:r>
            <a:r>
              <a:rPr lang="en-US" sz="7200" dirty="0">
                <a:effectLst/>
                <a:latin typeface="Aptos" panose="020B0004020202020204" pitchFamily="34" charset="0"/>
              </a:rPr>
              <a:t> I formatted ten (10) columns from </a:t>
            </a:r>
            <a:r>
              <a:rPr lang="en-US" sz="7200" b="1" dirty="0">
                <a:effectLst/>
                <a:latin typeface="Aptos" panose="020B0004020202020204" pitchFamily="34" charset="0"/>
              </a:rPr>
              <a:t>Text</a:t>
            </a:r>
            <a:r>
              <a:rPr lang="en-US" sz="7200" dirty="0">
                <a:effectLst/>
                <a:latin typeface="Aptos" panose="020B0004020202020204" pitchFamily="34" charset="0"/>
              </a:rPr>
              <a:t> to </a:t>
            </a:r>
            <a:r>
              <a:rPr lang="en-US" sz="7200" b="1" dirty="0">
                <a:effectLst/>
                <a:latin typeface="Aptos" panose="020B0004020202020204" pitchFamily="34" charset="0"/>
              </a:rPr>
              <a:t>General</a:t>
            </a:r>
            <a:r>
              <a:rPr lang="en-US" sz="7200" dirty="0">
                <a:effectLst/>
                <a:latin typeface="Aptos" panose="020B0004020202020204" pitchFamily="34" charset="0"/>
              </a:rPr>
              <a:t> using the </a:t>
            </a:r>
            <a:r>
              <a:rPr lang="en-US" sz="7200" b="1" dirty="0">
                <a:effectLst/>
                <a:latin typeface="Aptos" panose="020B0004020202020204" pitchFamily="34" charset="0"/>
              </a:rPr>
              <a:t>Text to Columns</a:t>
            </a:r>
            <a:r>
              <a:rPr lang="en-US" sz="7200" dirty="0">
                <a:effectLst/>
                <a:latin typeface="Aptos" panose="020B0004020202020204" pitchFamily="34" charset="0"/>
              </a:rPr>
              <a:t> feature under the </a:t>
            </a:r>
            <a:r>
              <a:rPr lang="en-US" sz="7200" b="1" dirty="0">
                <a:effectLst/>
                <a:latin typeface="Aptos" panose="020B0004020202020204" pitchFamily="34" charset="0"/>
              </a:rPr>
              <a:t>Data</a:t>
            </a:r>
            <a:r>
              <a:rPr lang="en-US" sz="7200" dirty="0">
                <a:effectLst/>
                <a:latin typeface="Aptos" panose="020B0004020202020204" pitchFamily="34" charset="0"/>
              </a:rPr>
              <a:t> tab and finally, I formatted each column back to </a:t>
            </a:r>
            <a:r>
              <a:rPr lang="en-US" sz="7200" b="1" dirty="0">
                <a:effectLst/>
                <a:latin typeface="Aptos" panose="020B0004020202020204" pitchFamily="34" charset="0"/>
              </a:rPr>
              <a:t>Number</a:t>
            </a:r>
            <a:r>
              <a:rPr lang="en-US" sz="7200" dirty="0">
                <a:effectLst/>
                <a:latin typeface="Aptos" panose="020B0004020202020204" pitchFamily="34" charset="0"/>
              </a:rPr>
              <a:t> respectively. This was necessary because, after the PDF-to-Excel conversion, an error came up that indicated that “the numbers in each column were formatted as text”. The following columns were incorrectly formatted as text:</a:t>
            </a:r>
          </a:p>
          <a:p>
            <a:pPr lvl="0"/>
            <a:r>
              <a:rPr lang="en-US" sz="6400" dirty="0">
                <a:effectLst/>
                <a:latin typeface="Aptos" panose="020B0004020202020204" pitchFamily="34" charset="0"/>
              </a:rPr>
              <a:t>NO OF ORDERS</a:t>
            </a:r>
          </a:p>
          <a:p>
            <a:pPr lvl="0"/>
            <a:r>
              <a:rPr lang="en-US" sz="6400" dirty="0">
                <a:effectLst/>
                <a:latin typeface="Aptos" panose="020B0004020202020204" pitchFamily="34" charset="0"/>
              </a:rPr>
              <a:t>INCOME</a:t>
            </a:r>
          </a:p>
          <a:p>
            <a:pPr lvl="0"/>
            <a:r>
              <a:rPr lang="en-US" sz="6400" dirty="0">
                <a:effectLst/>
                <a:latin typeface="Aptos" panose="020B0004020202020204" pitchFamily="34" charset="0"/>
              </a:rPr>
              <a:t>FUEL</a:t>
            </a:r>
          </a:p>
          <a:p>
            <a:pPr lvl="0"/>
            <a:r>
              <a:rPr lang="en-US" sz="6400" dirty="0">
                <a:effectLst/>
                <a:latin typeface="Aptos" panose="020B0004020202020204" pitchFamily="34" charset="0"/>
              </a:rPr>
              <a:t>AIRTIME</a:t>
            </a:r>
          </a:p>
          <a:p>
            <a:pPr lvl="0"/>
            <a:r>
              <a:rPr lang="en-US" sz="6400" dirty="0">
                <a:effectLst/>
                <a:latin typeface="Aptos" panose="020B0004020202020204" pitchFamily="34" charset="0"/>
              </a:rPr>
              <a:t>SALARY</a:t>
            </a:r>
          </a:p>
          <a:p>
            <a:pPr lvl="0"/>
            <a:r>
              <a:rPr lang="en-US" sz="6400" dirty="0">
                <a:effectLst/>
                <a:latin typeface="Aptos" panose="020B0004020202020204" pitchFamily="34" charset="0"/>
              </a:rPr>
              <a:t>REPAIR&amp;SERVI</a:t>
            </a:r>
          </a:p>
          <a:p>
            <a:pPr lvl="0"/>
            <a:r>
              <a:rPr lang="en-US" sz="6400" dirty="0">
                <a:effectLst/>
                <a:latin typeface="Aptos" panose="020B0004020202020204" pitchFamily="34" charset="0"/>
              </a:rPr>
              <a:t>CMINISGCELLANEOU</a:t>
            </a:r>
          </a:p>
          <a:p>
            <a:pPr lvl="0"/>
            <a:r>
              <a:rPr lang="en-US" sz="6400" dirty="0">
                <a:effectLst/>
                <a:latin typeface="Aptos" panose="020B0004020202020204" pitchFamily="34" charset="0"/>
              </a:rPr>
              <a:t>PSOLICE</a:t>
            </a:r>
          </a:p>
          <a:p>
            <a:pPr lvl="0"/>
            <a:r>
              <a:rPr lang="en-US" sz="6400" dirty="0">
                <a:effectLst/>
                <a:latin typeface="Aptos" panose="020B0004020202020204" pitchFamily="34" charset="0"/>
              </a:rPr>
              <a:t>TOTAL EXPENS</a:t>
            </a:r>
          </a:p>
          <a:p>
            <a:r>
              <a:rPr lang="en-US" sz="6400" dirty="0">
                <a:effectLst/>
                <a:latin typeface="Aptos" panose="020B0004020202020204" pitchFamily="34" charset="0"/>
              </a:rPr>
              <a:t>EBSALANCE</a:t>
            </a:r>
            <a:br>
              <a:rPr lang="en-US" sz="6400" dirty="0">
                <a:effectLst/>
              </a:rPr>
            </a:br>
            <a:endParaRPr lang="en-US" sz="6400" dirty="0">
              <a:effectLst/>
              <a:latin typeface="Aptos" panose="020B0004020202020204" pitchFamily="34" charset="0"/>
            </a:endParaRPr>
          </a:p>
          <a:p>
            <a:endParaRPr lang="en-US" dirty="0"/>
          </a:p>
        </p:txBody>
      </p:sp>
    </p:spTree>
    <p:extLst>
      <p:ext uri="{BB962C8B-B14F-4D97-AF65-F5344CB8AC3E}">
        <p14:creationId xmlns:p14="http://schemas.microsoft.com/office/powerpoint/2010/main" val="41762605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80863F-2AA6-0F31-AE62-0189D323AEC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A56E208-71EE-B73B-E9A0-6A77F48F46D3}"/>
              </a:ext>
            </a:extLst>
          </p:cNvPr>
          <p:cNvSpPr>
            <a:spLocks noGrp="1"/>
          </p:cNvSpPr>
          <p:nvPr>
            <p:ph type="title"/>
          </p:nvPr>
        </p:nvSpPr>
        <p:spPr>
          <a:xfrm>
            <a:off x="913795" y="0"/>
            <a:ext cx="10353761" cy="1326321"/>
          </a:xfrm>
        </p:spPr>
        <p:txBody>
          <a:bodyPr/>
          <a:lstStyle/>
          <a:p>
            <a:r>
              <a:rPr lang="en-US" dirty="0">
                <a:effectLst/>
                <a:latin typeface="Aptos" panose="020B0004020202020204" pitchFamily="34" charset="0"/>
              </a:rPr>
              <a:t>Data Cleaning Process CONT’D</a:t>
            </a:r>
            <a:endParaRPr lang="en-US" dirty="0"/>
          </a:p>
        </p:txBody>
      </p:sp>
      <p:sp>
        <p:nvSpPr>
          <p:cNvPr id="3" name="Content Placeholder 2">
            <a:extLst>
              <a:ext uri="{FF2B5EF4-FFF2-40B4-BE49-F238E27FC236}">
                <a16:creationId xmlns:a16="http://schemas.microsoft.com/office/drawing/2014/main" id="{2949A045-8C26-7FB1-E9DF-8CC9067A65AF}"/>
              </a:ext>
            </a:extLst>
          </p:cNvPr>
          <p:cNvSpPr>
            <a:spLocks noGrp="1"/>
          </p:cNvSpPr>
          <p:nvPr>
            <p:ph idx="1"/>
          </p:nvPr>
        </p:nvSpPr>
        <p:spPr>
          <a:xfrm>
            <a:off x="913795" y="935860"/>
            <a:ext cx="10353762" cy="3695136"/>
          </a:xfrm>
        </p:spPr>
        <p:txBody>
          <a:bodyPr/>
          <a:lstStyle/>
          <a:p>
            <a:pPr marL="0" indent="0">
              <a:buNone/>
            </a:pPr>
            <a:endParaRPr lang="en-US" dirty="0">
              <a:effectLst/>
              <a:latin typeface="Aptos" panose="020B0004020202020204" pitchFamily="34" charset="0"/>
            </a:endParaRPr>
          </a:p>
          <a:p>
            <a:endParaRPr lang="en-US" dirty="0"/>
          </a:p>
        </p:txBody>
      </p:sp>
      <p:pic>
        <p:nvPicPr>
          <p:cNvPr id="10" name="Picture 9">
            <a:extLst>
              <a:ext uri="{FF2B5EF4-FFF2-40B4-BE49-F238E27FC236}">
                <a16:creationId xmlns:a16="http://schemas.microsoft.com/office/drawing/2014/main" id="{DF49A3F4-89D5-8160-291A-2A578AE9928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835316" y="1139001"/>
            <a:ext cx="4018321" cy="2658872"/>
          </a:xfrm>
          <a:prstGeom prst="rect">
            <a:avLst/>
          </a:prstGeom>
        </p:spPr>
      </p:pic>
      <p:pic>
        <p:nvPicPr>
          <p:cNvPr id="12" name="Picture 11">
            <a:extLst>
              <a:ext uri="{FF2B5EF4-FFF2-40B4-BE49-F238E27FC236}">
                <a16:creationId xmlns:a16="http://schemas.microsoft.com/office/drawing/2014/main" id="{AB25F543-D569-B700-5AED-FE9541CE63B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181017" y="1139001"/>
            <a:ext cx="3840574" cy="2658872"/>
          </a:xfrm>
          <a:prstGeom prst="rect">
            <a:avLst/>
          </a:prstGeom>
        </p:spPr>
      </p:pic>
      <p:pic>
        <p:nvPicPr>
          <p:cNvPr id="5" name="Picture 4">
            <a:extLst>
              <a:ext uri="{FF2B5EF4-FFF2-40B4-BE49-F238E27FC236}">
                <a16:creationId xmlns:a16="http://schemas.microsoft.com/office/drawing/2014/main" id="{082DD37E-91E0-E93A-836C-7F5F434234A1}"/>
              </a:ext>
            </a:extLst>
          </p:cNvPr>
          <p:cNvPicPr>
            <a:picLocks noChangeAspect="1"/>
          </p:cNvPicPr>
          <p:nvPr/>
        </p:nvPicPr>
        <p:blipFill>
          <a:blip r:embed="rId4"/>
          <a:stretch>
            <a:fillRect/>
          </a:stretch>
        </p:blipFill>
        <p:spPr>
          <a:xfrm>
            <a:off x="3666590" y="3872040"/>
            <a:ext cx="5028855" cy="2853879"/>
          </a:xfrm>
          <a:prstGeom prst="rect">
            <a:avLst/>
          </a:prstGeom>
        </p:spPr>
      </p:pic>
    </p:spTree>
    <p:extLst>
      <p:ext uri="{BB962C8B-B14F-4D97-AF65-F5344CB8AC3E}">
        <p14:creationId xmlns:p14="http://schemas.microsoft.com/office/powerpoint/2010/main" val="377582994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20D768-259B-2689-64C0-29FDF4F239F2}"/>
              </a:ext>
            </a:extLst>
          </p:cNvPr>
          <p:cNvSpPr>
            <a:spLocks noGrp="1"/>
          </p:cNvSpPr>
          <p:nvPr>
            <p:ph type="title"/>
          </p:nvPr>
        </p:nvSpPr>
        <p:spPr>
          <a:xfrm>
            <a:off x="913795" y="0"/>
            <a:ext cx="10353761" cy="1326321"/>
          </a:xfrm>
        </p:spPr>
        <p:txBody>
          <a:bodyPr/>
          <a:lstStyle/>
          <a:p>
            <a:r>
              <a:rPr lang="en-US" dirty="0">
                <a:effectLst/>
                <a:latin typeface="Aptos" panose="020B0004020202020204" pitchFamily="34" charset="0"/>
              </a:rPr>
              <a:t>Data Cleaning Process CONT’D</a:t>
            </a:r>
            <a:endParaRPr lang="en-US" dirty="0"/>
          </a:p>
        </p:txBody>
      </p:sp>
      <p:sp>
        <p:nvSpPr>
          <p:cNvPr id="3" name="Content Placeholder 2">
            <a:extLst>
              <a:ext uri="{FF2B5EF4-FFF2-40B4-BE49-F238E27FC236}">
                <a16:creationId xmlns:a16="http://schemas.microsoft.com/office/drawing/2014/main" id="{178813BD-E7F0-03AD-AA33-5DE2B938B54A}"/>
              </a:ext>
            </a:extLst>
          </p:cNvPr>
          <p:cNvSpPr>
            <a:spLocks noGrp="1"/>
          </p:cNvSpPr>
          <p:nvPr>
            <p:ph idx="1"/>
          </p:nvPr>
        </p:nvSpPr>
        <p:spPr>
          <a:xfrm>
            <a:off x="924444" y="1044013"/>
            <a:ext cx="10353762" cy="3695136"/>
          </a:xfrm>
        </p:spPr>
        <p:txBody>
          <a:bodyPr/>
          <a:lstStyle/>
          <a:p>
            <a:r>
              <a:rPr lang="en-US" b="1" dirty="0">
                <a:effectLst/>
                <a:latin typeface="Aptos" panose="020B0004020202020204" pitchFamily="34" charset="0"/>
              </a:rPr>
              <a:t>Editing and Proper Casing:</a:t>
            </a:r>
            <a:r>
              <a:rPr lang="en-US" dirty="0">
                <a:effectLst/>
                <a:latin typeface="Aptos" panose="020B0004020202020204" pitchFamily="34" charset="0"/>
              </a:rPr>
              <a:t> I manually corrected errors and standardized the column headers by applying proper capitalization to ensure consistency and improve data readability. The corrected column headers include: </a:t>
            </a:r>
            <a:r>
              <a:rPr lang="en-US" b="1" dirty="0">
                <a:effectLst/>
                <a:latin typeface="Aptos" panose="020B0004020202020204" pitchFamily="34" charset="0"/>
              </a:rPr>
              <a:t>“______” </a:t>
            </a:r>
            <a:r>
              <a:rPr lang="en-US" dirty="0">
                <a:effectLst/>
                <a:latin typeface="Aptos" panose="020B0004020202020204" pitchFamily="34" charset="0"/>
              </a:rPr>
              <a:t>to </a:t>
            </a:r>
            <a:r>
              <a:rPr lang="en-US" b="1" dirty="0">
                <a:effectLst/>
                <a:latin typeface="Aptos" panose="020B0004020202020204" pitchFamily="34" charset="0"/>
              </a:rPr>
              <a:t>“DATE”</a:t>
            </a:r>
            <a:r>
              <a:rPr lang="en-US" dirty="0">
                <a:effectLst/>
                <a:latin typeface="Aptos" panose="020B0004020202020204" pitchFamily="34" charset="0"/>
              </a:rPr>
              <a:t>, </a:t>
            </a:r>
            <a:r>
              <a:rPr lang="en-US" b="1" dirty="0">
                <a:effectLst/>
                <a:latin typeface="Aptos" panose="020B0004020202020204" pitchFamily="34" charset="0"/>
              </a:rPr>
              <a:t>“REPAIR&amp;SERVI” </a:t>
            </a:r>
            <a:r>
              <a:rPr lang="en-US" dirty="0">
                <a:effectLst/>
                <a:latin typeface="Aptos" panose="020B0004020202020204" pitchFamily="34" charset="0"/>
              </a:rPr>
              <a:t>to </a:t>
            </a:r>
            <a:r>
              <a:rPr lang="en-US" b="1" dirty="0">
                <a:effectLst/>
                <a:latin typeface="Aptos" panose="020B0004020202020204" pitchFamily="34" charset="0"/>
              </a:rPr>
              <a:t>“REPAIR &amp; SERVICES”, “CMINISGCELLANEOU” to “MISCELLANEOUS”</a:t>
            </a:r>
            <a:r>
              <a:rPr lang="en-US" dirty="0">
                <a:effectLst/>
                <a:latin typeface="Aptos" panose="020B0004020202020204" pitchFamily="34" charset="0"/>
              </a:rPr>
              <a:t>, </a:t>
            </a:r>
            <a:r>
              <a:rPr lang="en-US" b="1" dirty="0">
                <a:effectLst/>
                <a:latin typeface="Aptos" panose="020B0004020202020204" pitchFamily="34" charset="0"/>
              </a:rPr>
              <a:t>“PSOLICE”</a:t>
            </a:r>
            <a:r>
              <a:rPr lang="en-US" dirty="0">
                <a:effectLst/>
                <a:latin typeface="Aptos" panose="020B0004020202020204" pitchFamily="34" charset="0"/>
              </a:rPr>
              <a:t> to </a:t>
            </a:r>
            <a:r>
              <a:rPr lang="en-US" b="1" dirty="0">
                <a:effectLst/>
                <a:latin typeface="Aptos" panose="020B0004020202020204" pitchFamily="34" charset="0"/>
              </a:rPr>
              <a:t>“POLICE”</a:t>
            </a:r>
            <a:r>
              <a:rPr lang="en-US" dirty="0">
                <a:effectLst/>
                <a:latin typeface="Aptos" panose="020B0004020202020204" pitchFamily="34" charset="0"/>
              </a:rPr>
              <a:t>, </a:t>
            </a:r>
            <a:r>
              <a:rPr lang="en-US" b="1" dirty="0">
                <a:effectLst/>
                <a:latin typeface="Aptos" panose="020B0004020202020204" pitchFamily="34" charset="0"/>
              </a:rPr>
              <a:t>“TOTAL EXPENS”</a:t>
            </a:r>
            <a:r>
              <a:rPr lang="en-US" dirty="0">
                <a:effectLst/>
                <a:latin typeface="Aptos" panose="020B0004020202020204" pitchFamily="34" charset="0"/>
              </a:rPr>
              <a:t> to </a:t>
            </a:r>
            <a:r>
              <a:rPr lang="en-US" b="1" dirty="0">
                <a:effectLst/>
                <a:latin typeface="Aptos" panose="020B0004020202020204" pitchFamily="34" charset="0"/>
              </a:rPr>
              <a:t>“TOTAL EXPENSES”</a:t>
            </a:r>
            <a:r>
              <a:rPr lang="en-US" dirty="0">
                <a:effectLst/>
                <a:latin typeface="Aptos" panose="020B0004020202020204" pitchFamily="34" charset="0"/>
              </a:rPr>
              <a:t>, </a:t>
            </a:r>
            <a:r>
              <a:rPr lang="en-US" b="1" dirty="0">
                <a:effectLst/>
                <a:latin typeface="Aptos" panose="020B0004020202020204" pitchFamily="34" charset="0"/>
              </a:rPr>
              <a:t>“EBSALANCE”</a:t>
            </a:r>
            <a:r>
              <a:rPr lang="en-US" dirty="0">
                <a:effectLst/>
                <a:latin typeface="Aptos" panose="020B0004020202020204" pitchFamily="34" charset="0"/>
              </a:rPr>
              <a:t> to </a:t>
            </a:r>
            <a:r>
              <a:rPr lang="en-US" b="1" dirty="0">
                <a:effectLst/>
                <a:latin typeface="Aptos" panose="020B0004020202020204" pitchFamily="34" charset="0"/>
              </a:rPr>
              <a:t>“BALANCE”, </a:t>
            </a:r>
            <a:r>
              <a:rPr lang="en-US" dirty="0">
                <a:effectLst/>
                <a:latin typeface="Aptos" panose="020B0004020202020204" pitchFamily="34" charset="0"/>
              </a:rPr>
              <a:t>and</a:t>
            </a:r>
            <a:r>
              <a:rPr lang="en-US" b="1" dirty="0">
                <a:effectLst/>
                <a:latin typeface="Aptos" panose="020B0004020202020204" pitchFamily="34" charset="0"/>
              </a:rPr>
              <a:t> “No of Riders” </a:t>
            </a:r>
            <a:r>
              <a:rPr lang="en-US" dirty="0">
                <a:effectLst/>
                <a:latin typeface="Aptos" panose="020B0004020202020204" pitchFamily="34" charset="0"/>
              </a:rPr>
              <a:t>to </a:t>
            </a:r>
            <a:r>
              <a:rPr lang="en-US" b="1" dirty="0">
                <a:effectLst/>
                <a:latin typeface="Aptos" panose="020B0004020202020204" pitchFamily="34" charset="0"/>
              </a:rPr>
              <a:t>“NO OF RIDERS”</a:t>
            </a:r>
            <a:r>
              <a:rPr lang="en-US" dirty="0">
                <a:effectLst/>
                <a:latin typeface="Aptos" panose="020B0004020202020204" pitchFamily="34" charset="0"/>
              </a:rPr>
              <a:t>.</a:t>
            </a:r>
          </a:p>
          <a:p>
            <a:endParaRPr lang="en-US" dirty="0"/>
          </a:p>
        </p:txBody>
      </p:sp>
      <p:pic>
        <p:nvPicPr>
          <p:cNvPr id="6" name="Picture 5">
            <a:extLst>
              <a:ext uri="{FF2B5EF4-FFF2-40B4-BE49-F238E27FC236}">
                <a16:creationId xmlns:a16="http://schemas.microsoft.com/office/drawing/2014/main" id="{DB3DD4C3-E89F-4F86-A431-FEEBC3EB5C03}"/>
              </a:ext>
            </a:extLst>
          </p:cNvPr>
          <p:cNvPicPr>
            <a:picLocks noChangeAspect="1"/>
          </p:cNvPicPr>
          <p:nvPr/>
        </p:nvPicPr>
        <p:blipFill>
          <a:blip r:embed="rId2"/>
          <a:stretch>
            <a:fillRect/>
          </a:stretch>
        </p:blipFill>
        <p:spPr>
          <a:xfrm>
            <a:off x="1778245" y="3611879"/>
            <a:ext cx="8646160" cy="1214121"/>
          </a:xfrm>
          <a:prstGeom prst="rect">
            <a:avLst/>
          </a:prstGeom>
        </p:spPr>
      </p:pic>
    </p:spTree>
    <p:extLst>
      <p:ext uri="{BB962C8B-B14F-4D97-AF65-F5344CB8AC3E}">
        <p14:creationId xmlns:p14="http://schemas.microsoft.com/office/powerpoint/2010/main" val="122659450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701F79-73DE-FDC7-0EFB-8A32B85F8C2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FFFED9A-FBD5-97B9-5286-73079B5D8EC2}"/>
              </a:ext>
            </a:extLst>
          </p:cNvPr>
          <p:cNvSpPr>
            <a:spLocks noGrp="1"/>
          </p:cNvSpPr>
          <p:nvPr>
            <p:ph type="title"/>
          </p:nvPr>
        </p:nvSpPr>
        <p:spPr>
          <a:xfrm>
            <a:off x="913795" y="0"/>
            <a:ext cx="10353761" cy="1326321"/>
          </a:xfrm>
        </p:spPr>
        <p:txBody>
          <a:bodyPr/>
          <a:lstStyle/>
          <a:p>
            <a:r>
              <a:rPr lang="en-US" dirty="0">
                <a:effectLst/>
                <a:latin typeface="Aptos" panose="020B0004020202020204" pitchFamily="34" charset="0"/>
              </a:rPr>
              <a:t>Data Cleaning Process CONT’D</a:t>
            </a:r>
            <a:endParaRPr lang="en-US" dirty="0"/>
          </a:p>
        </p:txBody>
      </p:sp>
      <p:sp>
        <p:nvSpPr>
          <p:cNvPr id="3" name="Content Placeholder 2">
            <a:extLst>
              <a:ext uri="{FF2B5EF4-FFF2-40B4-BE49-F238E27FC236}">
                <a16:creationId xmlns:a16="http://schemas.microsoft.com/office/drawing/2014/main" id="{A675FDCC-49BE-20CF-457D-26AB74908CEE}"/>
              </a:ext>
            </a:extLst>
          </p:cNvPr>
          <p:cNvSpPr>
            <a:spLocks noGrp="1"/>
          </p:cNvSpPr>
          <p:nvPr>
            <p:ph idx="1"/>
          </p:nvPr>
        </p:nvSpPr>
        <p:spPr>
          <a:xfrm>
            <a:off x="913793" y="867033"/>
            <a:ext cx="10481793" cy="2561967"/>
          </a:xfrm>
        </p:spPr>
        <p:txBody>
          <a:bodyPr>
            <a:normAutofit lnSpcReduction="10000"/>
          </a:bodyPr>
          <a:lstStyle/>
          <a:p>
            <a:pPr lvl="0"/>
            <a:r>
              <a:rPr lang="en-US" b="1" dirty="0">
                <a:effectLst/>
                <a:latin typeface="Aptos" panose="020B0004020202020204" pitchFamily="34" charset="0"/>
              </a:rPr>
              <a:t>Blank Space Detection and Replacement: </a:t>
            </a:r>
            <a:r>
              <a:rPr lang="en-US" dirty="0">
                <a:effectLst/>
                <a:latin typeface="Aptos" panose="020B0004020202020204" pitchFamily="34" charset="0"/>
              </a:rPr>
              <a:t>I checked for blank cells using the </a:t>
            </a:r>
            <a:r>
              <a:rPr lang="en-US" b="1" dirty="0">
                <a:effectLst/>
                <a:latin typeface="Aptos" panose="020B0004020202020204" pitchFamily="34" charset="0"/>
              </a:rPr>
              <a:t>New Formatting Rule</a:t>
            </a:r>
            <a:r>
              <a:rPr lang="en-US" dirty="0">
                <a:effectLst/>
                <a:latin typeface="Aptos" panose="020B0004020202020204" pitchFamily="34" charset="0"/>
              </a:rPr>
              <a:t> option under </a:t>
            </a:r>
            <a:r>
              <a:rPr lang="en-US" b="1" dirty="0">
                <a:effectLst/>
                <a:latin typeface="Aptos" panose="020B0004020202020204" pitchFamily="34" charset="0"/>
              </a:rPr>
              <a:t>Conditional Formatting</a:t>
            </a:r>
            <a:r>
              <a:rPr lang="en-US" dirty="0">
                <a:effectLst/>
                <a:latin typeface="Aptos" panose="020B0004020202020204" pitchFamily="34" charset="0"/>
              </a:rPr>
              <a:t> in the </a:t>
            </a:r>
            <a:r>
              <a:rPr lang="en-US" b="1" dirty="0">
                <a:effectLst/>
                <a:latin typeface="Aptos" panose="020B0004020202020204" pitchFamily="34" charset="0"/>
              </a:rPr>
              <a:t>Home tab</a:t>
            </a:r>
            <a:r>
              <a:rPr lang="en-US" dirty="0">
                <a:effectLst/>
                <a:latin typeface="Aptos" panose="020B0004020202020204" pitchFamily="34" charset="0"/>
              </a:rPr>
              <a:t>. Several blank cells were identified, including missing values in the </a:t>
            </a:r>
            <a:r>
              <a:rPr lang="en-US" b="1" dirty="0">
                <a:effectLst/>
                <a:latin typeface="Aptos" panose="020B0004020202020204" pitchFamily="34" charset="0"/>
              </a:rPr>
              <a:t>NO OF RIDERS</a:t>
            </a:r>
            <a:r>
              <a:rPr lang="en-US" dirty="0">
                <a:effectLst/>
                <a:latin typeface="Aptos" panose="020B0004020202020204" pitchFamily="34" charset="0"/>
              </a:rPr>
              <a:t> column, as well as two completely empty rows </a:t>
            </a:r>
            <a:r>
              <a:rPr lang="en-US" b="1" dirty="0">
                <a:effectLst/>
                <a:latin typeface="Aptos" panose="020B0004020202020204" pitchFamily="34" charset="0"/>
              </a:rPr>
              <a:t>(Rows 356 and 357)</a:t>
            </a:r>
            <a:r>
              <a:rPr lang="en-US" dirty="0">
                <a:effectLst/>
                <a:latin typeface="Aptos" panose="020B0004020202020204" pitchFamily="34" charset="0"/>
              </a:rPr>
              <a:t>, which were deleted. After removing the empty rows, 54 blank cells remained. These blanks were replaced with </a:t>
            </a:r>
            <a:r>
              <a:rPr lang="en-US" b="1" dirty="0">
                <a:effectLst/>
                <a:latin typeface="Aptos" panose="020B0004020202020204" pitchFamily="34" charset="0"/>
              </a:rPr>
              <a:t>"0"</a:t>
            </a:r>
            <a:r>
              <a:rPr lang="en-US" dirty="0">
                <a:effectLst/>
                <a:latin typeface="Aptos" panose="020B0004020202020204" pitchFamily="34" charset="0"/>
              </a:rPr>
              <a:t>, as it was the most frequently occurring value in the dataset, using the </a:t>
            </a:r>
            <a:r>
              <a:rPr lang="en-US" b="1" dirty="0">
                <a:effectLst/>
                <a:latin typeface="Aptos" panose="020B0004020202020204" pitchFamily="34" charset="0"/>
              </a:rPr>
              <a:t>Find and Replace</a:t>
            </a:r>
            <a:r>
              <a:rPr lang="en-US" dirty="0">
                <a:effectLst/>
                <a:latin typeface="Aptos" panose="020B0004020202020204" pitchFamily="34" charset="0"/>
              </a:rPr>
              <a:t> feature in the </a:t>
            </a:r>
            <a:r>
              <a:rPr lang="en-US" b="1" dirty="0">
                <a:effectLst/>
                <a:latin typeface="Aptos" panose="020B0004020202020204" pitchFamily="34" charset="0"/>
              </a:rPr>
              <a:t>Home tab</a:t>
            </a:r>
            <a:r>
              <a:rPr lang="en-US" dirty="0">
                <a:effectLst/>
                <a:latin typeface="Aptos" panose="020B0004020202020204" pitchFamily="34" charset="0"/>
              </a:rPr>
              <a:t>.</a:t>
            </a:r>
          </a:p>
          <a:p>
            <a:endParaRPr lang="en-US" dirty="0"/>
          </a:p>
        </p:txBody>
      </p:sp>
      <p:pic>
        <p:nvPicPr>
          <p:cNvPr id="5" name="Picture 4">
            <a:extLst>
              <a:ext uri="{FF2B5EF4-FFF2-40B4-BE49-F238E27FC236}">
                <a16:creationId xmlns:a16="http://schemas.microsoft.com/office/drawing/2014/main" id="{BF9C2841-A847-F6A1-9265-0DEC2439A03B}"/>
              </a:ext>
            </a:extLst>
          </p:cNvPr>
          <p:cNvPicPr>
            <a:picLocks noChangeAspect="1"/>
          </p:cNvPicPr>
          <p:nvPr/>
        </p:nvPicPr>
        <p:blipFill>
          <a:blip r:embed="rId2"/>
          <a:stretch>
            <a:fillRect/>
          </a:stretch>
        </p:blipFill>
        <p:spPr>
          <a:xfrm>
            <a:off x="2702560" y="3353924"/>
            <a:ext cx="6990080" cy="3360711"/>
          </a:xfrm>
          <a:prstGeom prst="rect">
            <a:avLst/>
          </a:prstGeom>
        </p:spPr>
      </p:pic>
    </p:spTree>
    <p:extLst>
      <p:ext uri="{BB962C8B-B14F-4D97-AF65-F5344CB8AC3E}">
        <p14:creationId xmlns:p14="http://schemas.microsoft.com/office/powerpoint/2010/main" val="63995651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777199-C8F5-5667-5196-D13B6C91DC8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8D4A510-A4F3-F135-4818-91958C796C39}"/>
              </a:ext>
            </a:extLst>
          </p:cNvPr>
          <p:cNvSpPr>
            <a:spLocks noGrp="1"/>
          </p:cNvSpPr>
          <p:nvPr>
            <p:ph type="title"/>
          </p:nvPr>
        </p:nvSpPr>
        <p:spPr>
          <a:xfrm>
            <a:off x="913795" y="0"/>
            <a:ext cx="10353761" cy="1326321"/>
          </a:xfrm>
        </p:spPr>
        <p:txBody>
          <a:bodyPr/>
          <a:lstStyle/>
          <a:p>
            <a:r>
              <a:rPr lang="en-US" dirty="0">
                <a:effectLst/>
                <a:latin typeface="Aptos" panose="020B0004020202020204" pitchFamily="34" charset="0"/>
              </a:rPr>
              <a:t>Data Cleaning Process CONT’D</a:t>
            </a:r>
            <a:endParaRPr lang="en-US" dirty="0"/>
          </a:p>
        </p:txBody>
      </p:sp>
      <p:sp>
        <p:nvSpPr>
          <p:cNvPr id="3" name="Content Placeholder 2">
            <a:extLst>
              <a:ext uri="{FF2B5EF4-FFF2-40B4-BE49-F238E27FC236}">
                <a16:creationId xmlns:a16="http://schemas.microsoft.com/office/drawing/2014/main" id="{64104EB2-E4F6-C450-FDF9-E8DC9FC6D426}"/>
              </a:ext>
            </a:extLst>
          </p:cNvPr>
          <p:cNvSpPr>
            <a:spLocks noGrp="1"/>
          </p:cNvSpPr>
          <p:nvPr>
            <p:ph idx="1"/>
          </p:nvPr>
        </p:nvSpPr>
        <p:spPr>
          <a:xfrm>
            <a:off x="913793" y="867033"/>
            <a:ext cx="10481793" cy="2561967"/>
          </a:xfrm>
        </p:spPr>
        <p:txBody>
          <a:bodyPr>
            <a:normAutofit/>
          </a:bodyPr>
          <a:lstStyle/>
          <a:p>
            <a:pPr lvl="0"/>
            <a:r>
              <a:rPr lang="en-US" b="1" dirty="0">
                <a:effectLst/>
                <a:latin typeface="Aptos" panose="020B0004020202020204" pitchFamily="34" charset="0"/>
              </a:rPr>
              <a:t>Duplicate Check and Removal: </a:t>
            </a:r>
            <a:r>
              <a:rPr lang="en-US" dirty="0">
                <a:effectLst/>
                <a:latin typeface="Aptos" panose="020B0004020202020204" pitchFamily="34" charset="0"/>
              </a:rPr>
              <a:t>I checked the dataset for duplicate records using the </a:t>
            </a:r>
            <a:r>
              <a:rPr lang="en-US" b="1" dirty="0">
                <a:effectLst/>
                <a:latin typeface="Aptos" panose="020B0004020202020204" pitchFamily="34" charset="0"/>
              </a:rPr>
              <a:t>Remove Duplicates</a:t>
            </a:r>
            <a:r>
              <a:rPr lang="en-US" dirty="0">
                <a:effectLst/>
                <a:latin typeface="Aptos" panose="020B0004020202020204" pitchFamily="34" charset="0"/>
              </a:rPr>
              <a:t> feature in the </a:t>
            </a:r>
            <a:r>
              <a:rPr lang="en-US" b="1" dirty="0">
                <a:effectLst/>
                <a:latin typeface="Aptos" panose="020B0004020202020204" pitchFamily="34" charset="0"/>
              </a:rPr>
              <a:t>Data tab</a:t>
            </a:r>
            <a:r>
              <a:rPr lang="en-US" dirty="0">
                <a:effectLst/>
                <a:latin typeface="Aptos" panose="020B0004020202020204" pitchFamily="34" charset="0"/>
              </a:rPr>
              <a:t>. No duplicate records were found nor removed from the dataset.</a:t>
            </a:r>
            <a:endParaRPr lang="en-US" dirty="0">
              <a:latin typeface="Aptos" panose="020B0004020202020204" pitchFamily="34" charset="0"/>
            </a:endParaRPr>
          </a:p>
        </p:txBody>
      </p:sp>
      <p:pic>
        <p:nvPicPr>
          <p:cNvPr id="6" name="Picture 5">
            <a:extLst>
              <a:ext uri="{FF2B5EF4-FFF2-40B4-BE49-F238E27FC236}">
                <a16:creationId xmlns:a16="http://schemas.microsoft.com/office/drawing/2014/main" id="{346A9C4D-AC35-D926-1CBA-B6250DEE8362}"/>
              </a:ext>
            </a:extLst>
          </p:cNvPr>
          <p:cNvPicPr>
            <a:picLocks noChangeAspect="1"/>
          </p:cNvPicPr>
          <p:nvPr/>
        </p:nvPicPr>
        <p:blipFill>
          <a:blip r:embed="rId2"/>
          <a:stretch>
            <a:fillRect/>
          </a:stretch>
        </p:blipFill>
        <p:spPr>
          <a:xfrm>
            <a:off x="2825494" y="2193354"/>
            <a:ext cx="6399785" cy="3797613"/>
          </a:xfrm>
          <a:prstGeom prst="rect">
            <a:avLst/>
          </a:prstGeom>
        </p:spPr>
      </p:pic>
    </p:spTree>
    <p:extLst>
      <p:ext uri="{BB962C8B-B14F-4D97-AF65-F5344CB8AC3E}">
        <p14:creationId xmlns:p14="http://schemas.microsoft.com/office/powerpoint/2010/main" val="361039648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85B4BB-03EF-030F-18CB-836CAFF41DD0}"/>
              </a:ext>
            </a:extLst>
          </p:cNvPr>
          <p:cNvSpPr>
            <a:spLocks noGrp="1"/>
          </p:cNvSpPr>
          <p:nvPr>
            <p:ph type="title"/>
          </p:nvPr>
        </p:nvSpPr>
        <p:spPr>
          <a:xfrm>
            <a:off x="913796" y="0"/>
            <a:ext cx="10353761" cy="1326321"/>
          </a:xfrm>
        </p:spPr>
        <p:txBody>
          <a:bodyPr>
            <a:normAutofit/>
          </a:bodyPr>
          <a:lstStyle/>
          <a:p>
            <a:r>
              <a:rPr lang="en-US" dirty="0">
                <a:effectLst/>
                <a:latin typeface="Aptos" panose="020B0004020202020204" pitchFamily="34" charset="0"/>
              </a:rPr>
              <a:t>Data Transformation, Analysis and Insights</a:t>
            </a:r>
            <a:br>
              <a:rPr lang="en-US" dirty="0">
                <a:effectLst/>
              </a:rPr>
            </a:br>
            <a:endParaRPr lang="en-US" dirty="0"/>
          </a:p>
        </p:txBody>
      </p:sp>
      <p:sp>
        <p:nvSpPr>
          <p:cNvPr id="3" name="Content Placeholder 2">
            <a:extLst>
              <a:ext uri="{FF2B5EF4-FFF2-40B4-BE49-F238E27FC236}">
                <a16:creationId xmlns:a16="http://schemas.microsoft.com/office/drawing/2014/main" id="{50904C86-A854-C828-BE6C-907C8B969DC1}"/>
              </a:ext>
            </a:extLst>
          </p:cNvPr>
          <p:cNvSpPr>
            <a:spLocks noGrp="1"/>
          </p:cNvSpPr>
          <p:nvPr>
            <p:ph idx="1"/>
          </p:nvPr>
        </p:nvSpPr>
        <p:spPr>
          <a:xfrm>
            <a:off x="913795" y="985018"/>
            <a:ext cx="10028525" cy="2443981"/>
          </a:xfrm>
        </p:spPr>
        <p:txBody>
          <a:bodyPr>
            <a:normAutofit fontScale="92500" lnSpcReduction="20000"/>
          </a:bodyPr>
          <a:lstStyle/>
          <a:p>
            <a:pPr lvl="0">
              <a:buFont typeface="Wingdings" panose="05000000000000000000" pitchFamily="2" charset="2"/>
              <a:buChar char="v"/>
            </a:pPr>
            <a:r>
              <a:rPr lang="en-US" sz="2200" b="1" dirty="0">
                <a:effectLst/>
                <a:latin typeface="Aptos" panose="020B0004020202020204" pitchFamily="34" charset="0"/>
              </a:rPr>
              <a:t>Tool Used:   </a:t>
            </a:r>
            <a:r>
              <a:rPr lang="en-US" sz="2200" dirty="0">
                <a:effectLst/>
                <a:latin typeface="Aptos" panose="020B0004020202020204" pitchFamily="34" charset="0"/>
              </a:rPr>
              <a:t>Power BI</a:t>
            </a:r>
          </a:p>
          <a:p>
            <a:pPr marL="0" indent="0">
              <a:buNone/>
            </a:pPr>
            <a:r>
              <a:rPr lang="en-US" sz="2200" b="1" dirty="0">
                <a:effectLst/>
                <a:latin typeface="Aptos" panose="020B0004020202020204" pitchFamily="34" charset="0"/>
              </a:rPr>
              <a:t> </a:t>
            </a:r>
            <a:endParaRPr lang="en-US" sz="2200" dirty="0">
              <a:effectLst/>
              <a:latin typeface="Aptos" panose="020B0004020202020204" pitchFamily="34" charset="0"/>
            </a:endParaRPr>
          </a:p>
          <a:p>
            <a:pPr lvl="0">
              <a:buFont typeface="Wingdings" panose="05000000000000000000" pitchFamily="2" charset="2"/>
              <a:buChar char="v"/>
            </a:pPr>
            <a:r>
              <a:rPr lang="en-US" sz="2600" b="1" dirty="0">
                <a:effectLst/>
                <a:latin typeface="Aptos" panose="020B0004020202020204" pitchFamily="34" charset="0"/>
              </a:rPr>
              <a:t>Transformation</a:t>
            </a:r>
            <a:endParaRPr lang="en-US" sz="2600" dirty="0">
              <a:effectLst/>
              <a:latin typeface="Aptos" panose="020B0004020202020204" pitchFamily="34" charset="0"/>
            </a:endParaRPr>
          </a:p>
          <a:p>
            <a:r>
              <a:rPr lang="en-US" sz="2200" dirty="0">
                <a:effectLst/>
                <a:latin typeface="Aptos" panose="020B0004020202020204" pitchFamily="34" charset="0"/>
              </a:rPr>
              <a:t>I imported the cleaned dataset into my Power BI environment for analysis. As part of the data preparation processes, I transformed the dataset by creating the following </a:t>
            </a:r>
            <a:r>
              <a:rPr lang="en-US" sz="2200" b="1" dirty="0">
                <a:effectLst/>
                <a:latin typeface="Aptos" panose="020B0004020202020204" pitchFamily="34" charset="0"/>
              </a:rPr>
              <a:t>columns</a:t>
            </a:r>
            <a:r>
              <a:rPr lang="en-US" sz="2200" dirty="0">
                <a:effectLst/>
                <a:latin typeface="Aptos" panose="020B0004020202020204" pitchFamily="34" charset="0"/>
              </a:rPr>
              <a:t> and </a:t>
            </a:r>
            <a:r>
              <a:rPr lang="en-US" sz="2200" b="1" dirty="0">
                <a:effectLst/>
                <a:latin typeface="Aptos" panose="020B0004020202020204" pitchFamily="34" charset="0"/>
              </a:rPr>
              <a:t>measures</a:t>
            </a:r>
            <a:r>
              <a:rPr lang="en-US" sz="2200" dirty="0">
                <a:effectLst/>
                <a:latin typeface="Aptos" panose="020B0004020202020204" pitchFamily="34" charset="0"/>
              </a:rPr>
              <a:t> using the </a:t>
            </a:r>
            <a:r>
              <a:rPr lang="en-US" sz="2200" b="1" dirty="0">
                <a:effectLst/>
                <a:latin typeface="Aptos" panose="020B0004020202020204" pitchFamily="34" charset="0"/>
              </a:rPr>
              <a:t>DAX</a:t>
            </a:r>
            <a:r>
              <a:rPr lang="en-US" sz="2200" dirty="0">
                <a:effectLst/>
                <a:latin typeface="Aptos" panose="020B0004020202020204" pitchFamily="34" charset="0"/>
              </a:rPr>
              <a:t> </a:t>
            </a:r>
            <a:r>
              <a:rPr lang="en-US" sz="2200" b="1" dirty="0">
                <a:effectLst/>
                <a:latin typeface="Aptos" panose="020B0004020202020204" pitchFamily="34" charset="0"/>
              </a:rPr>
              <a:t>functions</a:t>
            </a:r>
            <a:r>
              <a:rPr lang="en-US" sz="2200" dirty="0">
                <a:effectLst/>
                <a:latin typeface="Aptos" panose="020B0004020202020204" pitchFamily="34" charset="0"/>
              </a:rPr>
              <a:t>.</a:t>
            </a:r>
          </a:p>
          <a:p>
            <a:pPr marL="0" indent="0">
              <a:buNone/>
            </a:pPr>
            <a:endParaRPr lang="en-US" dirty="0"/>
          </a:p>
        </p:txBody>
      </p:sp>
      <p:graphicFrame>
        <p:nvGraphicFramePr>
          <p:cNvPr id="6" name="Table 5">
            <a:extLst>
              <a:ext uri="{FF2B5EF4-FFF2-40B4-BE49-F238E27FC236}">
                <a16:creationId xmlns:a16="http://schemas.microsoft.com/office/drawing/2014/main" id="{ED1D6725-A4F1-4F76-AF03-0120B78FAA90}"/>
              </a:ext>
            </a:extLst>
          </p:cNvPr>
          <p:cNvGraphicFramePr>
            <a:graphicFrameLocks noGrp="1"/>
          </p:cNvGraphicFramePr>
          <p:nvPr>
            <p:extLst>
              <p:ext uri="{D42A27DB-BD31-4B8C-83A1-F6EECF244321}">
                <p14:modId xmlns:p14="http://schemas.microsoft.com/office/powerpoint/2010/main" val="4220516746"/>
              </p:ext>
            </p:extLst>
          </p:nvPr>
        </p:nvGraphicFramePr>
        <p:xfrm>
          <a:off x="2042160" y="3564107"/>
          <a:ext cx="8138160" cy="2775736"/>
        </p:xfrm>
        <a:graphic>
          <a:graphicData uri="http://schemas.openxmlformats.org/drawingml/2006/table">
            <a:tbl>
              <a:tblPr firstRow="1" firstCol="1" bandRow="1">
                <a:tableStyleId>{F2DE63D5-997A-4646-A377-4702673A728D}</a:tableStyleId>
              </a:tblPr>
              <a:tblGrid>
                <a:gridCol w="2260391">
                  <a:extLst>
                    <a:ext uri="{9D8B030D-6E8A-4147-A177-3AD203B41FA5}">
                      <a16:colId xmlns:a16="http://schemas.microsoft.com/office/drawing/2014/main" val="1764307673"/>
                    </a:ext>
                  </a:extLst>
                </a:gridCol>
                <a:gridCol w="2316971">
                  <a:extLst>
                    <a:ext uri="{9D8B030D-6E8A-4147-A177-3AD203B41FA5}">
                      <a16:colId xmlns:a16="http://schemas.microsoft.com/office/drawing/2014/main" val="402075848"/>
                    </a:ext>
                  </a:extLst>
                </a:gridCol>
                <a:gridCol w="1780399">
                  <a:extLst>
                    <a:ext uri="{9D8B030D-6E8A-4147-A177-3AD203B41FA5}">
                      <a16:colId xmlns:a16="http://schemas.microsoft.com/office/drawing/2014/main" val="1283964443"/>
                    </a:ext>
                  </a:extLst>
                </a:gridCol>
                <a:gridCol w="1780399">
                  <a:extLst>
                    <a:ext uri="{9D8B030D-6E8A-4147-A177-3AD203B41FA5}">
                      <a16:colId xmlns:a16="http://schemas.microsoft.com/office/drawing/2014/main" val="3638038290"/>
                    </a:ext>
                  </a:extLst>
                </a:gridCol>
              </a:tblGrid>
              <a:tr h="304368">
                <a:tc>
                  <a:txBody>
                    <a:bodyPr/>
                    <a:lstStyle/>
                    <a:p>
                      <a:pPr marL="0" marR="0">
                        <a:lnSpc>
                          <a:spcPct val="115000"/>
                        </a:lnSpc>
                        <a:spcAft>
                          <a:spcPts val="800"/>
                        </a:spcAft>
                        <a:buNone/>
                      </a:pPr>
                      <a:r>
                        <a:rPr lang="en-US" sz="1400" kern="100" dirty="0">
                          <a:effectLst/>
                          <a:latin typeface="Aptos" panose="020B0004020202020204" pitchFamily="34" charset="0"/>
                        </a:rPr>
                        <a:t>Column</a:t>
                      </a:r>
                      <a:endParaRPr lang="en-US" sz="14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marL="0" marR="0">
                        <a:lnSpc>
                          <a:spcPct val="115000"/>
                        </a:lnSpc>
                        <a:spcAft>
                          <a:spcPts val="800"/>
                        </a:spcAft>
                        <a:buNone/>
                      </a:pPr>
                      <a:r>
                        <a:rPr lang="en-US" sz="1400" kern="100">
                          <a:effectLst/>
                          <a:latin typeface="Aptos" panose="020B0004020202020204" pitchFamily="34" charset="0"/>
                        </a:rPr>
                        <a:t>DAX Function</a:t>
                      </a:r>
                      <a:endParaRPr lang="en-US" sz="14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marL="0" marR="0">
                        <a:lnSpc>
                          <a:spcPct val="115000"/>
                        </a:lnSpc>
                        <a:spcAft>
                          <a:spcPts val="800"/>
                        </a:spcAft>
                        <a:buNone/>
                      </a:pPr>
                      <a:r>
                        <a:rPr lang="en-US" sz="1400" kern="100" dirty="0">
                          <a:effectLst/>
                          <a:latin typeface="Aptos" panose="020B0004020202020204" pitchFamily="34" charset="0"/>
                        </a:rPr>
                        <a:t>Measure</a:t>
                      </a:r>
                      <a:endParaRPr lang="en-US" sz="14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marL="0" marR="0">
                        <a:lnSpc>
                          <a:spcPct val="115000"/>
                        </a:lnSpc>
                        <a:spcAft>
                          <a:spcPts val="800"/>
                        </a:spcAft>
                        <a:buNone/>
                      </a:pPr>
                      <a:r>
                        <a:rPr lang="en-US" sz="1400" kern="100">
                          <a:effectLst/>
                          <a:latin typeface="Aptos" panose="020B0004020202020204" pitchFamily="34" charset="0"/>
                        </a:rPr>
                        <a:t>DAX Function</a:t>
                      </a:r>
                      <a:endParaRPr lang="en-US" sz="14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943841650"/>
                  </a:ext>
                </a:extLst>
              </a:tr>
              <a:tr h="304368">
                <a:tc>
                  <a:txBody>
                    <a:bodyPr/>
                    <a:lstStyle/>
                    <a:p>
                      <a:pPr marL="0" marR="0">
                        <a:lnSpc>
                          <a:spcPct val="115000"/>
                        </a:lnSpc>
                        <a:spcAft>
                          <a:spcPts val="800"/>
                        </a:spcAft>
                        <a:buNone/>
                      </a:pPr>
                      <a:r>
                        <a:rPr lang="en-US" sz="1400" kern="100">
                          <a:effectLst/>
                          <a:latin typeface="Aptos" panose="020B0004020202020204" pitchFamily="34" charset="0"/>
                        </a:rPr>
                        <a:t>Day Name</a:t>
                      </a:r>
                      <a:endParaRPr lang="en-US" sz="14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marL="0" marR="0">
                        <a:lnSpc>
                          <a:spcPct val="115000"/>
                        </a:lnSpc>
                        <a:spcAft>
                          <a:spcPts val="800"/>
                        </a:spcAft>
                        <a:buNone/>
                      </a:pPr>
                      <a:r>
                        <a:rPr lang="en-US" sz="1400" kern="100">
                          <a:effectLst/>
                          <a:latin typeface="Aptos" panose="020B0004020202020204" pitchFamily="34" charset="0"/>
                        </a:rPr>
                        <a:t>FORMAT</a:t>
                      </a:r>
                      <a:endParaRPr lang="en-US" sz="14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marL="0" marR="0">
                        <a:lnSpc>
                          <a:spcPct val="115000"/>
                        </a:lnSpc>
                        <a:spcAft>
                          <a:spcPts val="800"/>
                        </a:spcAft>
                        <a:buNone/>
                      </a:pPr>
                      <a:r>
                        <a:rPr lang="en-US" sz="1400" kern="100">
                          <a:effectLst/>
                          <a:latin typeface="Aptos" panose="020B0004020202020204" pitchFamily="34" charset="0"/>
                        </a:rPr>
                        <a:t>Average Order</a:t>
                      </a:r>
                      <a:endParaRPr lang="en-US" sz="14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marL="0" marR="0">
                        <a:lnSpc>
                          <a:spcPct val="115000"/>
                        </a:lnSpc>
                        <a:spcAft>
                          <a:spcPts val="800"/>
                        </a:spcAft>
                        <a:buNone/>
                      </a:pPr>
                      <a:r>
                        <a:rPr lang="en-US" sz="1400" kern="100">
                          <a:effectLst/>
                          <a:latin typeface="Aptos" panose="020B0004020202020204" pitchFamily="34" charset="0"/>
                        </a:rPr>
                        <a:t>AVERAGE</a:t>
                      </a:r>
                      <a:endParaRPr lang="en-US" sz="14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514579113"/>
                  </a:ext>
                </a:extLst>
              </a:tr>
              <a:tr h="626948">
                <a:tc>
                  <a:txBody>
                    <a:bodyPr/>
                    <a:lstStyle/>
                    <a:p>
                      <a:pPr marL="0" marR="0">
                        <a:lnSpc>
                          <a:spcPct val="115000"/>
                        </a:lnSpc>
                        <a:spcAft>
                          <a:spcPts val="800"/>
                        </a:spcAft>
                        <a:buNone/>
                      </a:pPr>
                      <a:r>
                        <a:rPr lang="en-US" sz="1400" kern="100">
                          <a:effectLst/>
                          <a:latin typeface="Aptos" panose="020B0004020202020204" pitchFamily="34" charset="0"/>
                        </a:rPr>
                        <a:t>DayMonthYear</a:t>
                      </a:r>
                      <a:endParaRPr lang="en-US" sz="14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marL="0" marR="0">
                        <a:lnSpc>
                          <a:spcPct val="115000"/>
                        </a:lnSpc>
                        <a:spcAft>
                          <a:spcPts val="800"/>
                        </a:spcAft>
                        <a:buNone/>
                      </a:pPr>
                      <a:r>
                        <a:rPr lang="en-US" sz="1400" kern="100">
                          <a:effectLst/>
                          <a:latin typeface="Aptos" panose="020B0004020202020204" pitchFamily="34" charset="0"/>
                        </a:rPr>
                        <a:t>FORMAT</a:t>
                      </a:r>
                      <a:endParaRPr lang="en-US" sz="14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marL="0" marR="0">
                        <a:lnSpc>
                          <a:spcPct val="115000"/>
                        </a:lnSpc>
                        <a:spcAft>
                          <a:spcPts val="800"/>
                        </a:spcAft>
                        <a:buNone/>
                      </a:pPr>
                      <a:r>
                        <a:rPr lang="en-US" sz="1400" kern="100">
                          <a:effectLst/>
                          <a:latin typeface="Aptos" panose="020B0004020202020204" pitchFamily="34" charset="0"/>
                        </a:rPr>
                        <a:t>Income Per Order</a:t>
                      </a:r>
                      <a:endParaRPr lang="en-US" sz="14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marL="0" marR="0">
                        <a:lnSpc>
                          <a:spcPct val="115000"/>
                        </a:lnSpc>
                        <a:spcAft>
                          <a:spcPts val="800"/>
                        </a:spcAft>
                        <a:buNone/>
                      </a:pPr>
                      <a:r>
                        <a:rPr lang="en-US" sz="1400" kern="100">
                          <a:effectLst/>
                          <a:latin typeface="Aptos" panose="020B0004020202020204" pitchFamily="34" charset="0"/>
                        </a:rPr>
                        <a:t>DIVIDE</a:t>
                      </a:r>
                      <a:endParaRPr lang="en-US" sz="14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61750686"/>
                  </a:ext>
                </a:extLst>
              </a:tr>
              <a:tr h="304368">
                <a:tc>
                  <a:txBody>
                    <a:bodyPr/>
                    <a:lstStyle/>
                    <a:p>
                      <a:pPr marL="0" marR="0">
                        <a:lnSpc>
                          <a:spcPct val="115000"/>
                        </a:lnSpc>
                        <a:spcAft>
                          <a:spcPts val="800"/>
                        </a:spcAft>
                        <a:buNone/>
                      </a:pPr>
                      <a:r>
                        <a:rPr lang="en-US" sz="1400" kern="100">
                          <a:effectLst/>
                          <a:latin typeface="Aptos" panose="020B0004020202020204" pitchFamily="34" charset="0"/>
                        </a:rPr>
                        <a:t>MonthYear</a:t>
                      </a:r>
                      <a:endParaRPr lang="en-US" sz="14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marL="0" marR="0">
                        <a:lnSpc>
                          <a:spcPct val="115000"/>
                        </a:lnSpc>
                        <a:spcAft>
                          <a:spcPts val="800"/>
                        </a:spcAft>
                        <a:buNone/>
                      </a:pPr>
                      <a:r>
                        <a:rPr lang="en-US" sz="1400" kern="100">
                          <a:effectLst/>
                          <a:latin typeface="Aptos" panose="020B0004020202020204" pitchFamily="34" charset="0"/>
                        </a:rPr>
                        <a:t>FORMAT</a:t>
                      </a:r>
                      <a:endParaRPr lang="en-US" sz="14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marL="0" marR="0">
                        <a:lnSpc>
                          <a:spcPct val="115000"/>
                        </a:lnSpc>
                        <a:spcAft>
                          <a:spcPts val="800"/>
                        </a:spcAft>
                        <a:buNone/>
                      </a:pPr>
                      <a:r>
                        <a:rPr lang="en-US" sz="1400" kern="100">
                          <a:effectLst/>
                          <a:latin typeface="Aptos" panose="020B0004020202020204" pitchFamily="34" charset="0"/>
                        </a:rPr>
                        <a:t>Profit Margin</a:t>
                      </a:r>
                      <a:endParaRPr lang="en-US" sz="14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marL="0" marR="0">
                        <a:lnSpc>
                          <a:spcPct val="115000"/>
                        </a:lnSpc>
                        <a:spcAft>
                          <a:spcPts val="800"/>
                        </a:spcAft>
                        <a:buNone/>
                      </a:pPr>
                      <a:r>
                        <a:rPr lang="en-US" sz="1400" kern="100">
                          <a:effectLst/>
                          <a:latin typeface="Aptos" panose="020B0004020202020204" pitchFamily="34" charset="0"/>
                        </a:rPr>
                        <a:t>DIVIDE</a:t>
                      </a:r>
                      <a:endParaRPr lang="en-US" sz="14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18567351"/>
                  </a:ext>
                </a:extLst>
              </a:tr>
              <a:tr h="626948">
                <a:tc>
                  <a:txBody>
                    <a:bodyPr/>
                    <a:lstStyle/>
                    <a:p>
                      <a:pPr marL="0" marR="0">
                        <a:lnSpc>
                          <a:spcPct val="115000"/>
                        </a:lnSpc>
                        <a:spcAft>
                          <a:spcPts val="800"/>
                        </a:spcAft>
                        <a:buNone/>
                      </a:pPr>
                      <a:r>
                        <a:rPr lang="en-US" sz="1400" kern="100" dirty="0">
                          <a:effectLst/>
                          <a:latin typeface="Aptos" panose="020B0004020202020204" pitchFamily="34" charset="0"/>
                        </a:rPr>
                        <a:t>Week Year</a:t>
                      </a:r>
                      <a:endParaRPr lang="en-US" sz="14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marL="0" marR="0">
                        <a:lnSpc>
                          <a:spcPct val="115000"/>
                        </a:lnSpc>
                        <a:spcAft>
                          <a:spcPts val="800"/>
                        </a:spcAft>
                        <a:buNone/>
                      </a:pPr>
                      <a:r>
                        <a:rPr lang="en-US" sz="1400" kern="100">
                          <a:effectLst/>
                          <a:latin typeface="Aptos" panose="020B0004020202020204" pitchFamily="34" charset="0"/>
                        </a:rPr>
                        <a:t>WEEKNUM and YEAR</a:t>
                      </a:r>
                      <a:endParaRPr lang="en-US" sz="14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marL="0" marR="0">
                        <a:lnSpc>
                          <a:spcPct val="115000"/>
                        </a:lnSpc>
                        <a:spcAft>
                          <a:spcPts val="800"/>
                        </a:spcAft>
                        <a:buNone/>
                      </a:pPr>
                      <a:r>
                        <a:rPr lang="en-US" sz="1400" kern="100">
                          <a:effectLst/>
                          <a:latin typeface="Aptos" panose="020B0004020202020204" pitchFamily="34" charset="0"/>
                        </a:rPr>
                        <a:t>Total Income</a:t>
                      </a:r>
                      <a:endParaRPr lang="en-US" sz="14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marL="0" marR="0">
                        <a:lnSpc>
                          <a:spcPct val="115000"/>
                        </a:lnSpc>
                        <a:spcAft>
                          <a:spcPts val="800"/>
                        </a:spcAft>
                        <a:buNone/>
                      </a:pPr>
                      <a:r>
                        <a:rPr lang="en-US" sz="1400" kern="100">
                          <a:effectLst/>
                          <a:latin typeface="Aptos" panose="020B0004020202020204" pitchFamily="34" charset="0"/>
                        </a:rPr>
                        <a:t>SUM</a:t>
                      </a:r>
                      <a:endParaRPr lang="en-US" sz="14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003626633"/>
                  </a:ext>
                </a:extLst>
              </a:tr>
              <a:tr h="304368">
                <a:tc>
                  <a:txBody>
                    <a:bodyPr/>
                    <a:lstStyle/>
                    <a:p>
                      <a:pPr marL="0" marR="0">
                        <a:lnSpc>
                          <a:spcPct val="115000"/>
                        </a:lnSpc>
                        <a:spcAft>
                          <a:spcPts val="800"/>
                        </a:spcAft>
                        <a:buNone/>
                      </a:pPr>
                      <a:r>
                        <a:rPr lang="en-US" sz="1400" kern="100">
                          <a:effectLst/>
                          <a:latin typeface="Aptos" panose="020B0004020202020204" pitchFamily="34" charset="0"/>
                        </a:rPr>
                        <a:t> </a:t>
                      </a:r>
                      <a:endParaRPr lang="en-US" sz="14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marL="0" marR="0">
                        <a:lnSpc>
                          <a:spcPct val="115000"/>
                        </a:lnSpc>
                        <a:spcAft>
                          <a:spcPts val="800"/>
                        </a:spcAft>
                        <a:buNone/>
                      </a:pPr>
                      <a:r>
                        <a:rPr lang="en-US" sz="1400" kern="100">
                          <a:effectLst/>
                          <a:latin typeface="Aptos" panose="020B0004020202020204" pitchFamily="34" charset="0"/>
                        </a:rPr>
                        <a:t> </a:t>
                      </a:r>
                      <a:endParaRPr lang="en-US" sz="14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marL="0" marR="0">
                        <a:lnSpc>
                          <a:spcPct val="115000"/>
                        </a:lnSpc>
                        <a:spcAft>
                          <a:spcPts val="800"/>
                        </a:spcAft>
                        <a:buNone/>
                      </a:pPr>
                      <a:r>
                        <a:rPr lang="en-US" sz="1400" kern="100">
                          <a:effectLst/>
                          <a:latin typeface="Aptos" panose="020B0004020202020204" pitchFamily="34" charset="0"/>
                        </a:rPr>
                        <a:t>Total Orders</a:t>
                      </a:r>
                      <a:endParaRPr lang="en-US" sz="14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marL="0" marR="0">
                        <a:lnSpc>
                          <a:spcPct val="115000"/>
                        </a:lnSpc>
                        <a:spcAft>
                          <a:spcPts val="800"/>
                        </a:spcAft>
                        <a:buNone/>
                      </a:pPr>
                      <a:r>
                        <a:rPr lang="en-US" sz="1400" kern="100">
                          <a:effectLst/>
                          <a:latin typeface="Aptos" panose="020B0004020202020204" pitchFamily="34" charset="0"/>
                        </a:rPr>
                        <a:t>SUM</a:t>
                      </a:r>
                      <a:endParaRPr lang="en-US" sz="14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168662781"/>
                  </a:ext>
                </a:extLst>
              </a:tr>
              <a:tr h="304368">
                <a:tc>
                  <a:txBody>
                    <a:bodyPr/>
                    <a:lstStyle/>
                    <a:p>
                      <a:pPr marL="0" marR="0">
                        <a:lnSpc>
                          <a:spcPct val="115000"/>
                        </a:lnSpc>
                        <a:spcAft>
                          <a:spcPts val="800"/>
                        </a:spcAft>
                        <a:buNone/>
                      </a:pPr>
                      <a:r>
                        <a:rPr lang="en-US" sz="1400" kern="100" dirty="0">
                          <a:effectLst/>
                          <a:latin typeface="Aptos" panose="020B0004020202020204" pitchFamily="34" charset="0"/>
                        </a:rPr>
                        <a:t> </a:t>
                      </a:r>
                      <a:endParaRPr lang="en-US" sz="14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marL="0" marR="0">
                        <a:lnSpc>
                          <a:spcPct val="115000"/>
                        </a:lnSpc>
                        <a:spcAft>
                          <a:spcPts val="800"/>
                        </a:spcAft>
                        <a:buNone/>
                      </a:pPr>
                      <a:r>
                        <a:rPr lang="en-US" sz="1400" kern="100" dirty="0">
                          <a:effectLst/>
                          <a:latin typeface="Aptos" panose="020B0004020202020204" pitchFamily="34" charset="0"/>
                        </a:rPr>
                        <a:t> </a:t>
                      </a:r>
                      <a:endParaRPr lang="en-US" sz="14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marL="0" marR="0">
                        <a:lnSpc>
                          <a:spcPct val="115000"/>
                        </a:lnSpc>
                        <a:spcAft>
                          <a:spcPts val="800"/>
                        </a:spcAft>
                        <a:buNone/>
                      </a:pPr>
                      <a:r>
                        <a:rPr lang="en-US" sz="1400" kern="100" dirty="0">
                          <a:effectLst/>
                          <a:latin typeface="Aptos" panose="020B0004020202020204" pitchFamily="34" charset="0"/>
                        </a:rPr>
                        <a:t>Total Profit</a:t>
                      </a:r>
                      <a:endParaRPr lang="en-US" sz="14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marL="0" marR="0">
                        <a:lnSpc>
                          <a:spcPct val="115000"/>
                        </a:lnSpc>
                        <a:spcAft>
                          <a:spcPts val="800"/>
                        </a:spcAft>
                        <a:buNone/>
                      </a:pPr>
                      <a:r>
                        <a:rPr lang="en-US" sz="1400" kern="100" dirty="0">
                          <a:effectLst/>
                          <a:latin typeface="Aptos" panose="020B0004020202020204" pitchFamily="34" charset="0"/>
                        </a:rPr>
                        <a:t>SUM</a:t>
                      </a:r>
                      <a:endParaRPr lang="en-US" sz="14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28438591"/>
                  </a:ext>
                </a:extLst>
              </a:tr>
            </a:tbl>
          </a:graphicData>
        </a:graphic>
      </p:graphicFrame>
    </p:spTree>
    <p:extLst>
      <p:ext uri="{BB962C8B-B14F-4D97-AF65-F5344CB8AC3E}">
        <p14:creationId xmlns:p14="http://schemas.microsoft.com/office/powerpoint/2010/main" val="158990599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B12E02-A059-9DA2-9CA7-BFB48269F52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7007660-429D-4BD2-73A8-0D5616C4CDB7}"/>
              </a:ext>
            </a:extLst>
          </p:cNvPr>
          <p:cNvSpPr>
            <a:spLocks noGrp="1"/>
          </p:cNvSpPr>
          <p:nvPr>
            <p:ph type="title"/>
          </p:nvPr>
        </p:nvSpPr>
        <p:spPr>
          <a:xfrm>
            <a:off x="913796" y="0"/>
            <a:ext cx="10353761" cy="1326321"/>
          </a:xfrm>
        </p:spPr>
        <p:txBody>
          <a:bodyPr>
            <a:normAutofit fontScale="90000"/>
          </a:bodyPr>
          <a:lstStyle/>
          <a:p>
            <a:r>
              <a:rPr lang="en-US" dirty="0">
                <a:effectLst/>
                <a:latin typeface="Aptos" panose="020B0004020202020204" pitchFamily="34" charset="0"/>
              </a:rPr>
              <a:t>Data Transformation, Analysis and Insights CONT’D</a:t>
            </a:r>
            <a:br>
              <a:rPr lang="en-US" dirty="0">
                <a:effectLst/>
              </a:rPr>
            </a:br>
            <a:endParaRPr lang="en-US" dirty="0"/>
          </a:p>
        </p:txBody>
      </p:sp>
      <p:sp>
        <p:nvSpPr>
          <p:cNvPr id="3" name="Content Placeholder 2">
            <a:extLst>
              <a:ext uri="{FF2B5EF4-FFF2-40B4-BE49-F238E27FC236}">
                <a16:creationId xmlns:a16="http://schemas.microsoft.com/office/drawing/2014/main" id="{87547F60-0072-9862-448C-D03434592112}"/>
              </a:ext>
            </a:extLst>
          </p:cNvPr>
          <p:cNvSpPr>
            <a:spLocks noGrp="1"/>
          </p:cNvSpPr>
          <p:nvPr>
            <p:ph idx="1"/>
          </p:nvPr>
        </p:nvSpPr>
        <p:spPr>
          <a:xfrm>
            <a:off x="913795" y="985019"/>
            <a:ext cx="10353762" cy="3695136"/>
          </a:xfrm>
        </p:spPr>
        <p:txBody>
          <a:bodyPr/>
          <a:lstStyle/>
          <a:p>
            <a:pPr lvl="0">
              <a:buFont typeface="Wingdings" panose="05000000000000000000" pitchFamily="2" charset="2"/>
              <a:buChar char="v"/>
            </a:pPr>
            <a:r>
              <a:rPr lang="en-US" sz="2400" b="1" dirty="0">
                <a:effectLst/>
                <a:latin typeface="Aptos" panose="020B0004020202020204" pitchFamily="34" charset="0"/>
              </a:rPr>
              <a:t>Analysis</a:t>
            </a:r>
            <a:endParaRPr lang="en-US" sz="2400" dirty="0">
              <a:effectLst/>
              <a:latin typeface="Aptos" panose="020B0004020202020204" pitchFamily="34" charset="0"/>
            </a:endParaRPr>
          </a:p>
          <a:p>
            <a:pPr marL="0" lvl="0" indent="0">
              <a:buNone/>
            </a:pPr>
            <a:r>
              <a:rPr lang="en-US" b="1" dirty="0">
                <a:effectLst/>
                <a:latin typeface="Aptos" panose="020B0004020202020204" pitchFamily="34" charset="0"/>
              </a:rPr>
              <a:t>1</a:t>
            </a:r>
            <a:r>
              <a:rPr lang="en-US" b="1" baseline="30000" dirty="0">
                <a:effectLst/>
                <a:latin typeface="Aptos" panose="020B0004020202020204" pitchFamily="34" charset="0"/>
              </a:rPr>
              <a:t>st  </a:t>
            </a:r>
            <a:r>
              <a:rPr lang="en-US" b="1" dirty="0">
                <a:effectLst/>
                <a:latin typeface="Aptos" panose="020B0004020202020204" pitchFamily="34" charset="0"/>
              </a:rPr>
              <a:t>Objective:</a:t>
            </a:r>
            <a:r>
              <a:rPr lang="en-US" dirty="0">
                <a:effectLst/>
                <a:latin typeface="Aptos" panose="020B0004020202020204" pitchFamily="34" charset="0"/>
              </a:rPr>
              <a:t> Monitor profitability and provide clear visibility into daily, weekly, and monthly financial performance;</a:t>
            </a:r>
          </a:p>
          <a:p>
            <a:pPr marL="0" indent="0">
              <a:buNone/>
            </a:pPr>
            <a:r>
              <a:rPr lang="en-US" b="1" dirty="0">
                <a:effectLst/>
                <a:latin typeface="Aptos" panose="020B0004020202020204" pitchFamily="34" charset="0"/>
              </a:rPr>
              <a:t>1. (Top 10) Most Profitable Days</a:t>
            </a:r>
            <a:endParaRPr lang="en-US" dirty="0">
              <a:latin typeface="Aptos" panose="020B0004020202020204" pitchFamily="34" charset="0"/>
            </a:endParaRPr>
          </a:p>
        </p:txBody>
      </p:sp>
      <p:pic>
        <p:nvPicPr>
          <p:cNvPr id="6" name="Picture 5">
            <a:extLst>
              <a:ext uri="{FF2B5EF4-FFF2-40B4-BE49-F238E27FC236}">
                <a16:creationId xmlns:a16="http://schemas.microsoft.com/office/drawing/2014/main" id="{A0A6A115-7EE5-A2F5-03EF-88298E7C7EE3}"/>
              </a:ext>
            </a:extLst>
          </p:cNvPr>
          <p:cNvPicPr>
            <a:picLocks noChangeAspect="1"/>
          </p:cNvPicPr>
          <p:nvPr/>
        </p:nvPicPr>
        <p:blipFill>
          <a:blip r:embed="rId2"/>
          <a:stretch>
            <a:fillRect/>
          </a:stretch>
        </p:blipFill>
        <p:spPr>
          <a:xfrm>
            <a:off x="2072640" y="2794000"/>
            <a:ext cx="7741920" cy="3962399"/>
          </a:xfrm>
          <a:prstGeom prst="rect">
            <a:avLst/>
          </a:prstGeom>
        </p:spPr>
      </p:pic>
    </p:spTree>
    <p:extLst>
      <p:ext uri="{BB962C8B-B14F-4D97-AF65-F5344CB8AC3E}">
        <p14:creationId xmlns:p14="http://schemas.microsoft.com/office/powerpoint/2010/main" val="153653313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7A7307-8674-CF1D-68D7-AF82F50051F1}"/>
              </a:ext>
            </a:extLst>
          </p:cNvPr>
          <p:cNvSpPr>
            <a:spLocks noGrp="1"/>
          </p:cNvSpPr>
          <p:nvPr>
            <p:ph type="title"/>
          </p:nvPr>
        </p:nvSpPr>
        <p:spPr>
          <a:xfrm>
            <a:off x="913796" y="0"/>
            <a:ext cx="10353761" cy="1326321"/>
          </a:xfrm>
        </p:spPr>
        <p:txBody>
          <a:bodyPr/>
          <a:lstStyle/>
          <a:p>
            <a:r>
              <a:rPr lang="en-US" dirty="0">
                <a:effectLst/>
                <a:latin typeface="Aptos" panose="020B0004020202020204" pitchFamily="34" charset="0"/>
              </a:rPr>
              <a:t>Data Transformation, Analysis and Insights CONT’D</a:t>
            </a:r>
            <a:endParaRPr lang="en-US" dirty="0"/>
          </a:p>
        </p:txBody>
      </p:sp>
      <p:sp>
        <p:nvSpPr>
          <p:cNvPr id="3" name="Content Placeholder 2">
            <a:extLst>
              <a:ext uri="{FF2B5EF4-FFF2-40B4-BE49-F238E27FC236}">
                <a16:creationId xmlns:a16="http://schemas.microsoft.com/office/drawing/2014/main" id="{925DDD48-8FB2-50FC-E706-9F55D4F2713F}"/>
              </a:ext>
            </a:extLst>
          </p:cNvPr>
          <p:cNvSpPr>
            <a:spLocks noGrp="1"/>
          </p:cNvSpPr>
          <p:nvPr>
            <p:ph idx="1"/>
          </p:nvPr>
        </p:nvSpPr>
        <p:spPr>
          <a:xfrm>
            <a:off x="913795" y="1181664"/>
            <a:ext cx="10353762" cy="3695136"/>
          </a:xfrm>
        </p:spPr>
        <p:txBody>
          <a:bodyPr/>
          <a:lstStyle/>
          <a:p>
            <a:pPr marL="0" indent="0">
              <a:buNone/>
            </a:pPr>
            <a:r>
              <a:rPr lang="en-US" b="1" dirty="0">
                <a:effectLst/>
                <a:latin typeface="Aptos" panose="020B0004020202020204" pitchFamily="34" charset="0"/>
              </a:rPr>
              <a:t>2. (Top 10) Most Profitable Weeks</a:t>
            </a:r>
            <a:endParaRPr lang="en-US" dirty="0">
              <a:latin typeface="Aptos" panose="020B0004020202020204" pitchFamily="34" charset="0"/>
            </a:endParaRPr>
          </a:p>
        </p:txBody>
      </p:sp>
      <p:pic>
        <p:nvPicPr>
          <p:cNvPr id="6" name="Picture 5">
            <a:extLst>
              <a:ext uri="{FF2B5EF4-FFF2-40B4-BE49-F238E27FC236}">
                <a16:creationId xmlns:a16="http://schemas.microsoft.com/office/drawing/2014/main" id="{61113D1B-E3F2-C91C-7DF1-81E1DEA7D7C2}"/>
              </a:ext>
            </a:extLst>
          </p:cNvPr>
          <p:cNvPicPr>
            <a:picLocks noChangeAspect="1"/>
          </p:cNvPicPr>
          <p:nvPr/>
        </p:nvPicPr>
        <p:blipFill>
          <a:blip r:embed="rId2"/>
          <a:stretch>
            <a:fillRect/>
          </a:stretch>
        </p:blipFill>
        <p:spPr>
          <a:xfrm>
            <a:off x="2339079" y="1925174"/>
            <a:ext cx="8122141" cy="4546746"/>
          </a:xfrm>
          <a:prstGeom prst="rect">
            <a:avLst/>
          </a:prstGeom>
        </p:spPr>
      </p:pic>
    </p:spTree>
    <p:extLst>
      <p:ext uri="{BB962C8B-B14F-4D97-AF65-F5344CB8AC3E}">
        <p14:creationId xmlns:p14="http://schemas.microsoft.com/office/powerpoint/2010/main" val="158105763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7C1AC5-C0EE-6DB0-1360-B77959AAB3A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774991E-E249-36B8-2618-4EBF8C5F22D1}"/>
              </a:ext>
            </a:extLst>
          </p:cNvPr>
          <p:cNvSpPr>
            <a:spLocks noGrp="1"/>
          </p:cNvSpPr>
          <p:nvPr>
            <p:ph type="title"/>
          </p:nvPr>
        </p:nvSpPr>
        <p:spPr>
          <a:xfrm>
            <a:off x="913796" y="0"/>
            <a:ext cx="10353761" cy="1326321"/>
          </a:xfrm>
        </p:spPr>
        <p:txBody>
          <a:bodyPr/>
          <a:lstStyle/>
          <a:p>
            <a:r>
              <a:rPr lang="en-US" dirty="0">
                <a:effectLst/>
                <a:latin typeface="Aptos" panose="020B0004020202020204" pitchFamily="34" charset="0"/>
              </a:rPr>
              <a:t>Data Transformation, Analysis and Insights CONT’D</a:t>
            </a:r>
            <a:endParaRPr lang="en-US" dirty="0"/>
          </a:p>
        </p:txBody>
      </p:sp>
      <p:sp>
        <p:nvSpPr>
          <p:cNvPr id="3" name="Content Placeholder 2">
            <a:extLst>
              <a:ext uri="{FF2B5EF4-FFF2-40B4-BE49-F238E27FC236}">
                <a16:creationId xmlns:a16="http://schemas.microsoft.com/office/drawing/2014/main" id="{94B01AFC-6208-04BF-2A9E-9260E6B8F5DE}"/>
              </a:ext>
            </a:extLst>
          </p:cNvPr>
          <p:cNvSpPr>
            <a:spLocks noGrp="1"/>
          </p:cNvSpPr>
          <p:nvPr>
            <p:ph idx="1"/>
          </p:nvPr>
        </p:nvSpPr>
        <p:spPr>
          <a:xfrm>
            <a:off x="913795" y="1181664"/>
            <a:ext cx="10353762" cy="3695136"/>
          </a:xfrm>
        </p:spPr>
        <p:txBody>
          <a:bodyPr/>
          <a:lstStyle/>
          <a:p>
            <a:pPr marL="0" indent="0">
              <a:buNone/>
            </a:pPr>
            <a:r>
              <a:rPr lang="en-US" b="1" dirty="0">
                <a:effectLst/>
                <a:latin typeface="Aptos" panose="020B0004020202020204" pitchFamily="34" charset="0"/>
              </a:rPr>
              <a:t>3. Most Profitable Month</a:t>
            </a:r>
            <a:endParaRPr lang="en-US" dirty="0">
              <a:latin typeface="Aptos" panose="020B0004020202020204" pitchFamily="34" charset="0"/>
            </a:endParaRPr>
          </a:p>
        </p:txBody>
      </p:sp>
      <p:pic>
        <p:nvPicPr>
          <p:cNvPr id="5" name="Picture 4">
            <a:extLst>
              <a:ext uri="{FF2B5EF4-FFF2-40B4-BE49-F238E27FC236}">
                <a16:creationId xmlns:a16="http://schemas.microsoft.com/office/drawing/2014/main" id="{FD513ECA-E7E8-7EF3-B1E7-23898414872F}"/>
              </a:ext>
            </a:extLst>
          </p:cNvPr>
          <p:cNvPicPr>
            <a:picLocks noChangeAspect="1"/>
          </p:cNvPicPr>
          <p:nvPr/>
        </p:nvPicPr>
        <p:blipFill>
          <a:blip r:embed="rId2"/>
          <a:stretch>
            <a:fillRect/>
          </a:stretch>
        </p:blipFill>
        <p:spPr>
          <a:xfrm>
            <a:off x="2090542" y="1748644"/>
            <a:ext cx="8164841" cy="4581036"/>
          </a:xfrm>
          <a:prstGeom prst="rect">
            <a:avLst/>
          </a:prstGeom>
        </p:spPr>
      </p:pic>
    </p:spTree>
    <p:extLst>
      <p:ext uri="{BB962C8B-B14F-4D97-AF65-F5344CB8AC3E}">
        <p14:creationId xmlns:p14="http://schemas.microsoft.com/office/powerpoint/2010/main" val="380801909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700D2A-2524-CF52-92B6-5DF36DAE846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A8E0FB2-4051-5764-DE8E-5CB03F48A1B2}"/>
              </a:ext>
            </a:extLst>
          </p:cNvPr>
          <p:cNvSpPr>
            <a:spLocks noGrp="1"/>
          </p:cNvSpPr>
          <p:nvPr>
            <p:ph type="title"/>
          </p:nvPr>
        </p:nvSpPr>
        <p:spPr>
          <a:xfrm>
            <a:off x="913796" y="0"/>
            <a:ext cx="10353761" cy="1326321"/>
          </a:xfrm>
        </p:spPr>
        <p:txBody>
          <a:bodyPr/>
          <a:lstStyle/>
          <a:p>
            <a:r>
              <a:rPr lang="en-US" dirty="0">
                <a:effectLst/>
                <a:latin typeface="Aptos" panose="020B0004020202020204" pitchFamily="34" charset="0"/>
              </a:rPr>
              <a:t>Data Transformation, Analysis and Insights CONT’D</a:t>
            </a:r>
            <a:endParaRPr lang="en-US" dirty="0"/>
          </a:p>
        </p:txBody>
      </p:sp>
      <p:sp>
        <p:nvSpPr>
          <p:cNvPr id="3" name="Content Placeholder 2">
            <a:extLst>
              <a:ext uri="{FF2B5EF4-FFF2-40B4-BE49-F238E27FC236}">
                <a16:creationId xmlns:a16="http://schemas.microsoft.com/office/drawing/2014/main" id="{9C87A8D7-5726-812A-3C2A-BEABC7C3E0E3}"/>
              </a:ext>
            </a:extLst>
          </p:cNvPr>
          <p:cNvSpPr>
            <a:spLocks noGrp="1"/>
          </p:cNvSpPr>
          <p:nvPr>
            <p:ph idx="1"/>
          </p:nvPr>
        </p:nvSpPr>
        <p:spPr>
          <a:xfrm>
            <a:off x="924443" y="1181664"/>
            <a:ext cx="10353762" cy="3695136"/>
          </a:xfrm>
        </p:spPr>
        <p:txBody>
          <a:bodyPr/>
          <a:lstStyle/>
          <a:p>
            <a:pPr marL="0" indent="0">
              <a:buNone/>
            </a:pPr>
            <a:r>
              <a:rPr lang="en-US" b="1" dirty="0">
                <a:effectLst/>
                <a:latin typeface="Aptos" panose="020B0004020202020204" pitchFamily="34" charset="0"/>
              </a:rPr>
              <a:t>4. Expenses Breakdown</a:t>
            </a:r>
            <a:r>
              <a:rPr lang="en-US" dirty="0">
                <a:effectLst/>
                <a:latin typeface="Aptos" panose="020B0004020202020204" pitchFamily="34" charset="0"/>
              </a:rPr>
              <a:t> </a:t>
            </a:r>
            <a:endParaRPr lang="en-US" dirty="0">
              <a:latin typeface="Aptos" panose="020B0004020202020204" pitchFamily="34" charset="0"/>
            </a:endParaRPr>
          </a:p>
        </p:txBody>
      </p:sp>
      <p:pic>
        <p:nvPicPr>
          <p:cNvPr id="6" name="Picture 5">
            <a:extLst>
              <a:ext uri="{FF2B5EF4-FFF2-40B4-BE49-F238E27FC236}">
                <a16:creationId xmlns:a16="http://schemas.microsoft.com/office/drawing/2014/main" id="{7C36CA6F-51F1-D73C-C50E-457B3AF579D4}"/>
              </a:ext>
            </a:extLst>
          </p:cNvPr>
          <p:cNvPicPr>
            <a:picLocks noChangeAspect="1"/>
          </p:cNvPicPr>
          <p:nvPr/>
        </p:nvPicPr>
        <p:blipFill>
          <a:blip r:embed="rId2"/>
          <a:stretch>
            <a:fillRect/>
          </a:stretch>
        </p:blipFill>
        <p:spPr>
          <a:xfrm>
            <a:off x="1390643" y="1763885"/>
            <a:ext cx="8647437" cy="4832392"/>
          </a:xfrm>
          <a:prstGeom prst="rect">
            <a:avLst/>
          </a:prstGeom>
        </p:spPr>
      </p:pic>
    </p:spTree>
    <p:extLst>
      <p:ext uri="{BB962C8B-B14F-4D97-AF65-F5344CB8AC3E}">
        <p14:creationId xmlns:p14="http://schemas.microsoft.com/office/powerpoint/2010/main" val="414352168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808E4F-05C2-25F9-24EF-65D2E0ACA44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52CCA66-8278-9439-F12A-C6274AC96E07}"/>
              </a:ext>
            </a:extLst>
          </p:cNvPr>
          <p:cNvSpPr>
            <a:spLocks noGrp="1"/>
          </p:cNvSpPr>
          <p:nvPr>
            <p:ph type="title"/>
          </p:nvPr>
        </p:nvSpPr>
        <p:spPr>
          <a:xfrm>
            <a:off x="913796" y="0"/>
            <a:ext cx="10353761" cy="1326321"/>
          </a:xfrm>
        </p:spPr>
        <p:txBody>
          <a:bodyPr>
            <a:normAutofit fontScale="90000"/>
          </a:bodyPr>
          <a:lstStyle/>
          <a:p>
            <a:r>
              <a:rPr lang="en-US" dirty="0">
                <a:effectLst/>
                <a:latin typeface="Aptos" panose="020B0004020202020204" pitchFamily="34" charset="0"/>
              </a:rPr>
              <a:t>Data Transformation, Analysis and Insights CONT’D</a:t>
            </a:r>
            <a:br>
              <a:rPr lang="en-US" dirty="0">
                <a:effectLst/>
              </a:rPr>
            </a:br>
            <a:endParaRPr lang="en-US" dirty="0"/>
          </a:p>
        </p:txBody>
      </p:sp>
      <p:sp>
        <p:nvSpPr>
          <p:cNvPr id="3" name="Content Placeholder 2">
            <a:extLst>
              <a:ext uri="{FF2B5EF4-FFF2-40B4-BE49-F238E27FC236}">
                <a16:creationId xmlns:a16="http://schemas.microsoft.com/office/drawing/2014/main" id="{FB341812-468E-6CAF-120F-885DF9FC875F}"/>
              </a:ext>
            </a:extLst>
          </p:cNvPr>
          <p:cNvSpPr>
            <a:spLocks noGrp="1"/>
          </p:cNvSpPr>
          <p:nvPr>
            <p:ph idx="1"/>
          </p:nvPr>
        </p:nvSpPr>
        <p:spPr>
          <a:xfrm>
            <a:off x="913795" y="985019"/>
            <a:ext cx="10353762" cy="3695136"/>
          </a:xfrm>
        </p:spPr>
        <p:txBody>
          <a:bodyPr/>
          <a:lstStyle/>
          <a:p>
            <a:pPr marL="0" lvl="0" indent="0">
              <a:buNone/>
            </a:pPr>
            <a:r>
              <a:rPr lang="en-US" b="1" dirty="0">
                <a:effectLst/>
                <a:latin typeface="Aptos" panose="020B0004020202020204" pitchFamily="34" charset="0"/>
              </a:rPr>
              <a:t>Analysis</a:t>
            </a:r>
            <a:endParaRPr lang="en-US" dirty="0">
              <a:effectLst/>
              <a:latin typeface="Aptos" panose="020B0004020202020204" pitchFamily="34" charset="0"/>
            </a:endParaRPr>
          </a:p>
          <a:p>
            <a:pPr marL="0" lvl="0" indent="0">
              <a:buNone/>
            </a:pPr>
            <a:r>
              <a:rPr lang="en-US" b="1" dirty="0">
                <a:effectLst/>
                <a:latin typeface="Aptos" panose="020B0004020202020204" pitchFamily="34" charset="0"/>
              </a:rPr>
              <a:t>2</a:t>
            </a:r>
            <a:r>
              <a:rPr lang="en-US" b="1" baseline="30000" dirty="0">
                <a:effectLst/>
                <a:latin typeface="Aptos" panose="020B0004020202020204" pitchFamily="34" charset="0"/>
              </a:rPr>
              <a:t>nd</a:t>
            </a:r>
            <a:r>
              <a:rPr lang="en-US" b="1" dirty="0">
                <a:effectLst/>
                <a:latin typeface="Aptos" panose="020B0004020202020204" pitchFamily="34" charset="0"/>
              </a:rPr>
              <a:t> Objective: </a:t>
            </a:r>
            <a:r>
              <a:rPr lang="en-US" dirty="0">
                <a:effectLst/>
                <a:latin typeface="Aptos" panose="020B0004020202020204" pitchFamily="34" charset="0"/>
              </a:rPr>
              <a:t>Analyze order trends and patterns to understand business demand, operational performance, and revenue generation across different time periods;</a:t>
            </a:r>
          </a:p>
          <a:p>
            <a:pPr marL="457200" indent="-457200">
              <a:buAutoNum type="arabicPeriod"/>
            </a:pPr>
            <a:r>
              <a:rPr lang="en-US" b="1" dirty="0">
                <a:effectLst/>
                <a:latin typeface="Aptos" panose="020B0004020202020204" pitchFamily="34" charset="0"/>
              </a:rPr>
              <a:t>(Top 10) Days With The Highest Order</a:t>
            </a:r>
            <a:r>
              <a:rPr lang="en-US" dirty="0">
                <a:effectLst/>
                <a:latin typeface="Aptos" panose="020B0004020202020204" pitchFamily="34" charset="0"/>
              </a:rPr>
              <a:t> </a:t>
            </a:r>
            <a:endParaRPr lang="en-US" dirty="0">
              <a:latin typeface="Aptos" panose="020B0004020202020204" pitchFamily="34" charset="0"/>
            </a:endParaRPr>
          </a:p>
        </p:txBody>
      </p:sp>
      <p:pic>
        <p:nvPicPr>
          <p:cNvPr id="5" name="Picture 4">
            <a:extLst>
              <a:ext uri="{FF2B5EF4-FFF2-40B4-BE49-F238E27FC236}">
                <a16:creationId xmlns:a16="http://schemas.microsoft.com/office/drawing/2014/main" id="{04A073DE-27AA-2188-6794-5FDFAA82E8D3}"/>
              </a:ext>
            </a:extLst>
          </p:cNvPr>
          <p:cNvPicPr>
            <a:picLocks noChangeAspect="1"/>
          </p:cNvPicPr>
          <p:nvPr/>
        </p:nvPicPr>
        <p:blipFill>
          <a:blip r:embed="rId2"/>
          <a:stretch>
            <a:fillRect/>
          </a:stretch>
        </p:blipFill>
        <p:spPr>
          <a:xfrm>
            <a:off x="2001264" y="2832587"/>
            <a:ext cx="7813296" cy="3913653"/>
          </a:xfrm>
          <a:prstGeom prst="rect">
            <a:avLst/>
          </a:prstGeom>
        </p:spPr>
      </p:pic>
    </p:spTree>
    <p:extLst>
      <p:ext uri="{BB962C8B-B14F-4D97-AF65-F5344CB8AC3E}">
        <p14:creationId xmlns:p14="http://schemas.microsoft.com/office/powerpoint/2010/main" val="213973997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349065-5F36-C62D-73E3-517B41F5825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DEDEE76-33AE-ABEB-C0D2-1639AE5FABBD}"/>
              </a:ext>
            </a:extLst>
          </p:cNvPr>
          <p:cNvSpPr>
            <a:spLocks noGrp="1"/>
          </p:cNvSpPr>
          <p:nvPr>
            <p:ph type="title"/>
          </p:nvPr>
        </p:nvSpPr>
        <p:spPr>
          <a:xfrm>
            <a:off x="913796" y="0"/>
            <a:ext cx="10353761" cy="1326321"/>
          </a:xfrm>
        </p:spPr>
        <p:txBody>
          <a:bodyPr/>
          <a:lstStyle/>
          <a:p>
            <a:r>
              <a:rPr lang="en-US" dirty="0">
                <a:effectLst/>
                <a:latin typeface="Aptos" panose="020B0004020202020204" pitchFamily="34" charset="0"/>
              </a:rPr>
              <a:t>Data Transformation, Analysis and Insights CONT’D</a:t>
            </a:r>
            <a:endParaRPr lang="en-US" dirty="0"/>
          </a:p>
        </p:txBody>
      </p:sp>
      <p:sp>
        <p:nvSpPr>
          <p:cNvPr id="3" name="Content Placeholder 2">
            <a:extLst>
              <a:ext uri="{FF2B5EF4-FFF2-40B4-BE49-F238E27FC236}">
                <a16:creationId xmlns:a16="http://schemas.microsoft.com/office/drawing/2014/main" id="{3AE6C28C-D4FB-E450-357F-5691B4F6F307}"/>
              </a:ext>
            </a:extLst>
          </p:cNvPr>
          <p:cNvSpPr>
            <a:spLocks noGrp="1"/>
          </p:cNvSpPr>
          <p:nvPr>
            <p:ph idx="1"/>
          </p:nvPr>
        </p:nvSpPr>
        <p:spPr>
          <a:xfrm>
            <a:off x="924443" y="1181664"/>
            <a:ext cx="10353762" cy="3695136"/>
          </a:xfrm>
        </p:spPr>
        <p:txBody>
          <a:bodyPr/>
          <a:lstStyle/>
          <a:p>
            <a:pPr marL="0" indent="0">
              <a:buNone/>
            </a:pPr>
            <a:r>
              <a:rPr lang="en-US" b="1" dirty="0">
                <a:effectLst/>
                <a:latin typeface="Aptos" panose="020B0004020202020204" pitchFamily="34" charset="0"/>
              </a:rPr>
              <a:t>2. Orders Across The Days Of The Week</a:t>
            </a:r>
            <a:r>
              <a:rPr lang="en-US" dirty="0">
                <a:effectLst/>
                <a:latin typeface="Aptos" panose="020B0004020202020204" pitchFamily="34" charset="0"/>
              </a:rPr>
              <a:t> </a:t>
            </a:r>
            <a:endParaRPr lang="en-US" dirty="0">
              <a:latin typeface="Aptos" panose="020B0004020202020204" pitchFamily="34" charset="0"/>
            </a:endParaRPr>
          </a:p>
        </p:txBody>
      </p:sp>
      <p:pic>
        <p:nvPicPr>
          <p:cNvPr id="5" name="Picture 4">
            <a:extLst>
              <a:ext uri="{FF2B5EF4-FFF2-40B4-BE49-F238E27FC236}">
                <a16:creationId xmlns:a16="http://schemas.microsoft.com/office/drawing/2014/main" id="{31D0D9C2-DA42-C05C-F810-34D827F1F3DD}"/>
              </a:ext>
            </a:extLst>
          </p:cNvPr>
          <p:cNvPicPr>
            <a:picLocks noChangeAspect="1"/>
          </p:cNvPicPr>
          <p:nvPr/>
        </p:nvPicPr>
        <p:blipFill>
          <a:blip r:embed="rId2"/>
          <a:stretch>
            <a:fillRect/>
          </a:stretch>
        </p:blipFill>
        <p:spPr>
          <a:xfrm>
            <a:off x="1522194" y="1860406"/>
            <a:ext cx="8160286" cy="4450131"/>
          </a:xfrm>
          <a:prstGeom prst="rect">
            <a:avLst/>
          </a:prstGeom>
        </p:spPr>
      </p:pic>
    </p:spTree>
    <p:extLst>
      <p:ext uri="{BB962C8B-B14F-4D97-AF65-F5344CB8AC3E}">
        <p14:creationId xmlns:p14="http://schemas.microsoft.com/office/powerpoint/2010/main" val="113626259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9430AD-BEDE-1ADC-F4D4-1DBF23D0813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94CFE8B-43D5-8A6E-F23D-4705A40BF665}"/>
              </a:ext>
            </a:extLst>
          </p:cNvPr>
          <p:cNvSpPr>
            <a:spLocks noGrp="1"/>
          </p:cNvSpPr>
          <p:nvPr>
            <p:ph type="title"/>
          </p:nvPr>
        </p:nvSpPr>
        <p:spPr>
          <a:xfrm>
            <a:off x="913796" y="0"/>
            <a:ext cx="10353761" cy="1326321"/>
          </a:xfrm>
        </p:spPr>
        <p:txBody>
          <a:bodyPr/>
          <a:lstStyle/>
          <a:p>
            <a:r>
              <a:rPr lang="en-US" dirty="0">
                <a:effectLst/>
                <a:latin typeface="Aptos" panose="020B0004020202020204" pitchFamily="34" charset="0"/>
              </a:rPr>
              <a:t>Data Transformation, Analysis and Insights CONT’D</a:t>
            </a:r>
            <a:endParaRPr lang="en-US" dirty="0"/>
          </a:p>
        </p:txBody>
      </p:sp>
      <p:sp>
        <p:nvSpPr>
          <p:cNvPr id="3" name="Content Placeholder 2">
            <a:extLst>
              <a:ext uri="{FF2B5EF4-FFF2-40B4-BE49-F238E27FC236}">
                <a16:creationId xmlns:a16="http://schemas.microsoft.com/office/drawing/2014/main" id="{5A3B9393-4B8D-78E5-DA18-3DF89A739AAB}"/>
              </a:ext>
            </a:extLst>
          </p:cNvPr>
          <p:cNvSpPr>
            <a:spLocks noGrp="1"/>
          </p:cNvSpPr>
          <p:nvPr>
            <p:ph idx="1"/>
          </p:nvPr>
        </p:nvSpPr>
        <p:spPr>
          <a:xfrm>
            <a:off x="924443" y="1181664"/>
            <a:ext cx="10353762" cy="3695136"/>
          </a:xfrm>
        </p:spPr>
        <p:txBody>
          <a:bodyPr/>
          <a:lstStyle/>
          <a:p>
            <a:pPr marL="0" indent="0">
              <a:buNone/>
            </a:pPr>
            <a:r>
              <a:rPr lang="en-US" b="1" dirty="0">
                <a:effectLst/>
                <a:latin typeface="Aptos" panose="020B0004020202020204" pitchFamily="34" charset="0"/>
              </a:rPr>
              <a:t>3. (Top 10) Weeks With The Highest Order</a:t>
            </a:r>
            <a:r>
              <a:rPr lang="en-US" dirty="0">
                <a:effectLst/>
                <a:latin typeface="Aptos" panose="020B0004020202020204" pitchFamily="34" charset="0"/>
              </a:rPr>
              <a:t> </a:t>
            </a:r>
            <a:endParaRPr lang="en-US" dirty="0">
              <a:latin typeface="Aptos" panose="020B0004020202020204" pitchFamily="34" charset="0"/>
            </a:endParaRPr>
          </a:p>
        </p:txBody>
      </p:sp>
      <p:pic>
        <p:nvPicPr>
          <p:cNvPr id="6" name="Picture 5">
            <a:extLst>
              <a:ext uri="{FF2B5EF4-FFF2-40B4-BE49-F238E27FC236}">
                <a16:creationId xmlns:a16="http://schemas.microsoft.com/office/drawing/2014/main" id="{FFC9B35C-638E-7E71-AD2A-F550CE60CFFA}"/>
              </a:ext>
            </a:extLst>
          </p:cNvPr>
          <p:cNvPicPr>
            <a:picLocks noChangeAspect="1"/>
          </p:cNvPicPr>
          <p:nvPr/>
        </p:nvPicPr>
        <p:blipFill>
          <a:blip r:embed="rId2"/>
          <a:stretch>
            <a:fillRect/>
          </a:stretch>
        </p:blipFill>
        <p:spPr>
          <a:xfrm>
            <a:off x="1605280" y="2011680"/>
            <a:ext cx="8158480" cy="4378960"/>
          </a:xfrm>
          <a:prstGeom prst="rect">
            <a:avLst/>
          </a:prstGeom>
        </p:spPr>
      </p:pic>
    </p:spTree>
    <p:extLst>
      <p:ext uri="{BB962C8B-B14F-4D97-AF65-F5344CB8AC3E}">
        <p14:creationId xmlns:p14="http://schemas.microsoft.com/office/powerpoint/2010/main" val="239334544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7D6390-AF69-3BA6-C654-28546AFA2ED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45BC683-87D8-70B2-0ADF-7736B953FDA9}"/>
              </a:ext>
            </a:extLst>
          </p:cNvPr>
          <p:cNvSpPr>
            <a:spLocks noGrp="1"/>
          </p:cNvSpPr>
          <p:nvPr>
            <p:ph type="title"/>
          </p:nvPr>
        </p:nvSpPr>
        <p:spPr>
          <a:xfrm>
            <a:off x="913796" y="0"/>
            <a:ext cx="10353761" cy="1326321"/>
          </a:xfrm>
        </p:spPr>
        <p:txBody>
          <a:bodyPr/>
          <a:lstStyle/>
          <a:p>
            <a:r>
              <a:rPr lang="en-US" dirty="0">
                <a:effectLst/>
                <a:latin typeface="Aptos" panose="020B0004020202020204" pitchFamily="34" charset="0"/>
              </a:rPr>
              <a:t>Data Transformation, Analysis and Insights CONT’D</a:t>
            </a:r>
            <a:endParaRPr lang="en-US" dirty="0"/>
          </a:p>
        </p:txBody>
      </p:sp>
      <p:sp>
        <p:nvSpPr>
          <p:cNvPr id="3" name="Content Placeholder 2">
            <a:extLst>
              <a:ext uri="{FF2B5EF4-FFF2-40B4-BE49-F238E27FC236}">
                <a16:creationId xmlns:a16="http://schemas.microsoft.com/office/drawing/2014/main" id="{CB921CA8-7328-FD57-B8B3-4B4E5A8B4E5B}"/>
              </a:ext>
            </a:extLst>
          </p:cNvPr>
          <p:cNvSpPr>
            <a:spLocks noGrp="1"/>
          </p:cNvSpPr>
          <p:nvPr>
            <p:ph idx="1"/>
          </p:nvPr>
        </p:nvSpPr>
        <p:spPr>
          <a:xfrm>
            <a:off x="924443" y="1181664"/>
            <a:ext cx="10353762" cy="3695136"/>
          </a:xfrm>
        </p:spPr>
        <p:txBody>
          <a:bodyPr/>
          <a:lstStyle/>
          <a:p>
            <a:pPr marL="0" indent="0">
              <a:buNone/>
            </a:pPr>
            <a:r>
              <a:rPr lang="en-US" b="1" dirty="0">
                <a:effectLst/>
                <a:latin typeface="Aptos" panose="020B0004020202020204" pitchFamily="34" charset="0"/>
              </a:rPr>
              <a:t>4. Month With The Highest Order</a:t>
            </a:r>
            <a:r>
              <a:rPr lang="en-US" dirty="0">
                <a:effectLst/>
                <a:latin typeface="Aptos" panose="020B0004020202020204" pitchFamily="34" charset="0"/>
              </a:rPr>
              <a:t> </a:t>
            </a:r>
            <a:endParaRPr lang="en-US" dirty="0">
              <a:latin typeface="Aptos" panose="020B0004020202020204" pitchFamily="34" charset="0"/>
            </a:endParaRPr>
          </a:p>
        </p:txBody>
      </p:sp>
      <p:pic>
        <p:nvPicPr>
          <p:cNvPr id="5" name="Picture 4">
            <a:extLst>
              <a:ext uri="{FF2B5EF4-FFF2-40B4-BE49-F238E27FC236}">
                <a16:creationId xmlns:a16="http://schemas.microsoft.com/office/drawing/2014/main" id="{A3F58EB2-799B-5E79-627B-7C3CF6D67F76}"/>
              </a:ext>
            </a:extLst>
          </p:cNvPr>
          <p:cNvPicPr>
            <a:picLocks noChangeAspect="1"/>
          </p:cNvPicPr>
          <p:nvPr/>
        </p:nvPicPr>
        <p:blipFill>
          <a:blip r:embed="rId2"/>
          <a:stretch>
            <a:fillRect/>
          </a:stretch>
        </p:blipFill>
        <p:spPr>
          <a:xfrm>
            <a:off x="1697708" y="1918811"/>
            <a:ext cx="8187972" cy="4597935"/>
          </a:xfrm>
          <a:prstGeom prst="rect">
            <a:avLst/>
          </a:prstGeom>
        </p:spPr>
      </p:pic>
    </p:spTree>
    <p:extLst>
      <p:ext uri="{BB962C8B-B14F-4D97-AF65-F5344CB8AC3E}">
        <p14:creationId xmlns:p14="http://schemas.microsoft.com/office/powerpoint/2010/main" val="256976985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B57273-EE6B-15DE-3AC5-ADC85F2CC25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75BF29B-875F-024B-D0C9-1871705FFB60}"/>
              </a:ext>
            </a:extLst>
          </p:cNvPr>
          <p:cNvSpPr>
            <a:spLocks noGrp="1"/>
          </p:cNvSpPr>
          <p:nvPr>
            <p:ph type="title"/>
          </p:nvPr>
        </p:nvSpPr>
        <p:spPr>
          <a:xfrm>
            <a:off x="913796" y="0"/>
            <a:ext cx="10353761" cy="1326321"/>
          </a:xfrm>
        </p:spPr>
        <p:txBody>
          <a:bodyPr/>
          <a:lstStyle/>
          <a:p>
            <a:r>
              <a:rPr lang="en-US" dirty="0">
                <a:effectLst/>
                <a:latin typeface="Aptos" panose="020B0004020202020204" pitchFamily="34" charset="0"/>
              </a:rPr>
              <a:t>Data Transformation, Analysis and Insights CONT’D</a:t>
            </a:r>
            <a:endParaRPr lang="en-US" dirty="0"/>
          </a:p>
        </p:txBody>
      </p:sp>
      <p:sp>
        <p:nvSpPr>
          <p:cNvPr id="3" name="Content Placeholder 2">
            <a:extLst>
              <a:ext uri="{FF2B5EF4-FFF2-40B4-BE49-F238E27FC236}">
                <a16:creationId xmlns:a16="http://schemas.microsoft.com/office/drawing/2014/main" id="{1D7C28F4-9985-832B-A32B-F87F78C339F2}"/>
              </a:ext>
            </a:extLst>
          </p:cNvPr>
          <p:cNvSpPr>
            <a:spLocks noGrp="1"/>
          </p:cNvSpPr>
          <p:nvPr>
            <p:ph idx="1"/>
          </p:nvPr>
        </p:nvSpPr>
        <p:spPr>
          <a:xfrm>
            <a:off x="924442" y="1181664"/>
            <a:ext cx="10810358" cy="4822896"/>
          </a:xfrm>
        </p:spPr>
        <p:txBody>
          <a:bodyPr>
            <a:normAutofit fontScale="47500" lnSpcReduction="20000"/>
          </a:bodyPr>
          <a:lstStyle/>
          <a:p>
            <a:pPr lvl="0">
              <a:buFont typeface="Wingdings" panose="05000000000000000000" pitchFamily="2" charset="2"/>
              <a:buChar char="v"/>
            </a:pPr>
            <a:r>
              <a:rPr lang="en-US" sz="3800" b="1" dirty="0">
                <a:effectLst/>
                <a:latin typeface="Aptos" panose="020B0004020202020204" pitchFamily="34" charset="0"/>
              </a:rPr>
              <a:t>Insight</a:t>
            </a:r>
            <a:endParaRPr lang="en-US" sz="3800" dirty="0">
              <a:effectLst/>
              <a:latin typeface="Aptos" panose="020B0004020202020204" pitchFamily="34" charset="0"/>
            </a:endParaRPr>
          </a:p>
          <a:p>
            <a:r>
              <a:rPr lang="en-US" sz="3200" b="1" dirty="0">
                <a:effectLst/>
                <a:latin typeface="Aptos" panose="020B0004020202020204" pitchFamily="34" charset="0"/>
              </a:rPr>
              <a:t>1</a:t>
            </a:r>
            <a:r>
              <a:rPr lang="en-US" sz="3200" b="1" baseline="30000" dirty="0">
                <a:effectLst/>
                <a:latin typeface="Aptos" panose="020B0004020202020204" pitchFamily="34" charset="0"/>
              </a:rPr>
              <a:t>st   </a:t>
            </a:r>
            <a:r>
              <a:rPr lang="en-US" sz="3200" b="1" dirty="0">
                <a:effectLst/>
                <a:latin typeface="Aptos" panose="020B0004020202020204" pitchFamily="34" charset="0"/>
              </a:rPr>
              <a:t>Objective:</a:t>
            </a:r>
            <a:r>
              <a:rPr lang="en-US" sz="3200" dirty="0">
                <a:effectLst/>
                <a:latin typeface="Aptos" panose="020B0004020202020204" pitchFamily="34" charset="0"/>
              </a:rPr>
              <a:t> Monitor profitability and provide clear visibility into daily, weekly, and monthly financial performance;</a:t>
            </a:r>
          </a:p>
          <a:p>
            <a:pPr marL="457200" lvl="0" indent="-457200">
              <a:buFont typeface="+mj-lt"/>
              <a:buAutoNum type="arabicPeriod"/>
            </a:pPr>
            <a:r>
              <a:rPr lang="en-US" sz="3800" dirty="0">
                <a:effectLst/>
                <a:latin typeface="Aptos" panose="020B0004020202020204" pitchFamily="34" charset="0"/>
              </a:rPr>
              <a:t>The first chart shows the top 10 most profitable days, where </a:t>
            </a:r>
            <a:r>
              <a:rPr lang="en-US" sz="3800" b="1" dirty="0">
                <a:effectLst/>
                <a:latin typeface="Aptos" panose="020B0004020202020204" pitchFamily="34" charset="0"/>
              </a:rPr>
              <a:t>14th February 2025</a:t>
            </a:r>
            <a:r>
              <a:rPr lang="en-US" sz="3800" dirty="0">
                <a:effectLst/>
                <a:latin typeface="Aptos" panose="020B0004020202020204" pitchFamily="34" charset="0"/>
              </a:rPr>
              <a:t> recorded the highest profit of </a:t>
            </a:r>
            <a:r>
              <a:rPr lang="en-US" sz="3800" b="1" dirty="0">
                <a:effectLst/>
                <a:latin typeface="Aptos" panose="020B0004020202020204" pitchFamily="34" charset="0"/>
              </a:rPr>
              <a:t>Eighty-Three Thousand, Nine Hundred Naira only (₦83,900)</a:t>
            </a:r>
            <a:r>
              <a:rPr lang="en-US" sz="3800" dirty="0">
                <a:effectLst/>
                <a:latin typeface="Aptos" panose="020B0004020202020204" pitchFamily="34" charset="0"/>
              </a:rPr>
              <a:t>, while </a:t>
            </a:r>
            <a:r>
              <a:rPr lang="en-US" sz="3800" b="1" dirty="0">
                <a:effectLst/>
                <a:latin typeface="Aptos" panose="020B0004020202020204" pitchFamily="34" charset="0"/>
              </a:rPr>
              <a:t>6th October 2025</a:t>
            </a:r>
            <a:r>
              <a:rPr lang="en-US" sz="3800" dirty="0">
                <a:effectLst/>
                <a:latin typeface="Aptos" panose="020B0004020202020204" pitchFamily="34" charset="0"/>
              </a:rPr>
              <a:t> recorded the lowest profit of </a:t>
            </a:r>
            <a:r>
              <a:rPr lang="en-US" sz="3800" b="1" dirty="0">
                <a:effectLst/>
                <a:latin typeface="Aptos" panose="020B0004020202020204" pitchFamily="34" charset="0"/>
              </a:rPr>
              <a:t>Fifty-Nine Thousand, Nine Hundred Naira only (₦59,900)</a:t>
            </a:r>
            <a:r>
              <a:rPr lang="en-US" sz="3800" dirty="0">
                <a:effectLst/>
                <a:latin typeface="Aptos" panose="020B0004020202020204" pitchFamily="34" charset="0"/>
              </a:rPr>
              <a:t>.</a:t>
            </a:r>
          </a:p>
          <a:p>
            <a:pPr marL="457200" lvl="0" indent="-457200">
              <a:buFont typeface="+mj-lt"/>
              <a:buAutoNum type="arabicPeriod"/>
            </a:pPr>
            <a:r>
              <a:rPr lang="en-US" sz="3800" dirty="0">
                <a:effectLst/>
                <a:latin typeface="Aptos" panose="020B0004020202020204" pitchFamily="34" charset="0"/>
              </a:rPr>
              <a:t>The second chart indicates the top 10 most profitable weeks, where </a:t>
            </a:r>
            <a:r>
              <a:rPr lang="en-US" sz="3800" b="1" dirty="0">
                <a:effectLst/>
                <a:latin typeface="Aptos" panose="020B0004020202020204" pitchFamily="34" charset="0"/>
              </a:rPr>
              <a:t>Week 13, 2026</a:t>
            </a:r>
            <a:r>
              <a:rPr lang="en-US" sz="3800" dirty="0">
                <a:effectLst/>
                <a:latin typeface="Aptos" panose="020B0004020202020204" pitchFamily="34" charset="0"/>
              </a:rPr>
              <a:t> recorded the highest profit of </a:t>
            </a:r>
            <a:r>
              <a:rPr lang="en-US" sz="3800" b="1" dirty="0">
                <a:effectLst/>
                <a:latin typeface="Aptos" panose="020B0004020202020204" pitchFamily="34" charset="0"/>
              </a:rPr>
              <a:t>Two Hundred and Sixty-Five Thousand, Three Hundred and Fifty Naira only (₦265,350)</a:t>
            </a:r>
            <a:r>
              <a:rPr lang="en-US" sz="3800" dirty="0">
                <a:effectLst/>
                <a:latin typeface="Aptos" panose="020B0004020202020204" pitchFamily="34" charset="0"/>
              </a:rPr>
              <a:t>, while </a:t>
            </a:r>
            <a:r>
              <a:rPr lang="en-US" sz="3800" b="1" dirty="0">
                <a:effectLst/>
                <a:latin typeface="Aptos" panose="020B0004020202020204" pitchFamily="34" charset="0"/>
              </a:rPr>
              <a:t>Week 46, 2025</a:t>
            </a:r>
            <a:r>
              <a:rPr lang="en-US" sz="3800" dirty="0">
                <a:effectLst/>
                <a:latin typeface="Aptos" panose="020B0004020202020204" pitchFamily="34" charset="0"/>
              </a:rPr>
              <a:t> recorded the lowest profit of </a:t>
            </a:r>
            <a:r>
              <a:rPr lang="en-US" sz="3800" b="1" dirty="0">
                <a:effectLst/>
                <a:latin typeface="Aptos" panose="020B0004020202020204" pitchFamily="34" charset="0"/>
              </a:rPr>
              <a:t>One Hundred and Ninety-Two Thousand, Fifty Naira only (₦192,050)</a:t>
            </a:r>
            <a:r>
              <a:rPr lang="en-US" sz="3800" dirty="0">
                <a:effectLst/>
                <a:latin typeface="Aptos" panose="020B0004020202020204" pitchFamily="34" charset="0"/>
              </a:rPr>
              <a:t>.</a:t>
            </a:r>
          </a:p>
          <a:p>
            <a:pPr marL="457200" lvl="0" indent="-457200">
              <a:buFont typeface="+mj-lt"/>
              <a:buAutoNum type="arabicPeriod"/>
            </a:pPr>
            <a:r>
              <a:rPr lang="en-US" sz="3800" dirty="0">
                <a:effectLst/>
                <a:latin typeface="Aptos" panose="020B0004020202020204" pitchFamily="34" charset="0"/>
              </a:rPr>
              <a:t>The third chart shows the most profitable month, where </a:t>
            </a:r>
            <a:r>
              <a:rPr lang="en-US" sz="3800" b="1" dirty="0">
                <a:effectLst/>
                <a:latin typeface="Aptos" panose="020B0004020202020204" pitchFamily="34" charset="0"/>
              </a:rPr>
              <a:t>March 2026</a:t>
            </a:r>
            <a:r>
              <a:rPr lang="en-US" sz="3800" dirty="0">
                <a:effectLst/>
                <a:latin typeface="Aptos" panose="020B0004020202020204" pitchFamily="34" charset="0"/>
              </a:rPr>
              <a:t> recorded the highest profit of </a:t>
            </a:r>
            <a:r>
              <a:rPr lang="en-US" sz="3800" b="1" dirty="0">
                <a:effectLst/>
                <a:latin typeface="Aptos" panose="020B0004020202020204" pitchFamily="34" charset="0"/>
              </a:rPr>
              <a:t>Six Hundred and Ninety-Two Thousand, Two Hundred and Fifty Naira only (₦692,250)</a:t>
            </a:r>
            <a:r>
              <a:rPr lang="en-US" sz="3800" dirty="0">
                <a:effectLst/>
                <a:latin typeface="Aptos" panose="020B0004020202020204" pitchFamily="34" charset="0"/>
              </a:rPr>
              <a:t>, while </a:t>
            </a:r>
            <a:r>
              <a:rPr lang="en-US" sz="3800" b="1" dirty="0">
                <a:effectLst/>
                <a:latin typeface="Aptos" panose="020B0004020202020204" pitchFamily="34" charset="0"/>
              </a:rPr>
              <a:t>February 2025</a:t>
            </a:r>
            <a:r>
              <a:rPr lang="en-US" sz="3800" dirty="0">
                <a:effectLst/>
                <a:latin typeface="Aptos" panose="020B0004020202020204" pitchFamily="34" charset="0"/>
              </a:rPr>
              <a:t> recorded the lowest profit of </a:t>
            </a:r>
            <a:r>
              <a:rPr lang="en-US" sz="3800" b="1" dirty="0">
                <a:effectLst/>
                <a:latin typeface="Aptos" panose="020B0004020202020204" pitchFamily="34" charset="0"/>
              </a:rPr>
              <a:t>One Hundred and Ninety-Two Thousand, Four Hundred and Ten Naira only (₦192,410)</a:t>
            </a:r>
            <a:r>
              <a:rPr lang="en-US" sz="3800" dirty="0">
                <a:effectLst/>
                <a:latin typeface="Aptos" panose="020B0004020202020204" pitchFamily="34" charset="0"/>
              </a:rPr>
              <a:t>.</a:t>
            </a:r>
          </a:p>
          <a:p>
            <a:pPr marL="457200" indent="-457200">
              <a:buFont typeface="+mj-lt"/>
              <a:buAutoNum type="arabicPeriod"/>
            </a:pPr>
            <a:r>
              <a:rPr lang="en-US" sz="3800" dirty="0">
                <a:effectLst/>
                <a:latin typeface="Aptos" panose="020B0004020202020204" pitchFamily="34" charset="0"/>
              </a:rPr>
              <a:t>The fourth  chart indicates the expenses breakdown of </a:t>
            </a:r>
            <a:r>
              <a:rPr lang="en-US" sz="3800" b="1" dirty="0">
                <a:effectLst/>
                <a:latin typeface="Aptos" panose="020B0004020202020204" pitchFamily="34" charset="0"/>
              </a:rPr>
              <a:t>Simbi Logistics Company</a:t>
            </a:r>
            <a:r>
              <a:rPr lang="en-US" sz="3800" dirty="0">
                <a:effectLst/>
                <a:latin typeface="Aptos" panose="020B0004020202020204" pitchFamily="34" charset="0"/>
              </a:rPr>
              <a:t> from </a:t>
            </a:r>
            <a:r>
              <a:rPr lang="en-US" sz="3800" b="1" dirty="0">
                <a:effectLst/>
                <a:latin typeface="Aptos" panose="020B0004020202020204" pitchFamily="34" charset="0"/>
              </a:rPr>
              <a:t>13th January 2025 to 31st March 2026</a:t>
            </a:r>
            <a:r>
              <a:rPr lang="en-US" sz="3800" dirty="0">
                <a:effectLst/>
                <a:latin typeface="Aptos" panose="020B0004020202020204" pitchFamily="34" charset="0"/>
              </a:rPr>
              <a:t>, where:</a:t>
            </a:r>
          </a:p>
          <a:p>
            <a:pPr marL="0" indent="0">
              <a:buNone/>
            </a:pPr>
            <a:endParaRPr lang="en-US" dirty="0">
              <a:latin typeface="Aptos" panose="020B0004020202020204" pitchFamily="34" charset="0"/>
            </a:endParaRPr>
          </a:p>
        </p:txBody>
      </p:sp>
    </p:spTree>
    <p:extLst>
      <p:ext uri="{BB962C8B-B14F-4D97-AF65-F5344CB8AC3E}">
        <p14:creationId xmlns:p14="http://schemas.microsoft.com/office/powerpoint/2010/main" val="113469997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0A2A05-C1AF-50E5-C57A-64C96D3173F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E321476-0562-239A-5B1F-39FAD7923292}"/>
              </a:ext>
            </a:extLst>
          </p:cNvPr>
          <p:cNvSpPr>
            <a:spLocks noGrp="1"/>
          </p:cNvSpPr>
          <p:nvPr>
            <p:ph type="title"/>
          </p:nvPr>
        </p:nvSpPr>
        <p:spPr>
          <a:xfrm>
            <a:off x="913796" y="0"/>
            <a:ext cx="10353761" cy="1326321"/>
          </a:xfrm>
        </p:spPr>
        <p:txBody>
          <a:bodyPr/>
          <a:lstStyle/>
          <a:p>
            <a:r>
              <a:rPr lang="en-US" dirty="0">
                <a:effectLst/>
                <a:latin typeface="Aptos" panose="020B0004020202020204" pitchFamily="34" charset="0"/>
              </a:rPr>
              <a:t>Data Transformation, Analysis and Insights CONT’D</a:t>
            </a:r>
            <a:endParaRPr lang="en-US" dirty="0"/>
          </a:p>
        </p:txBody>
      </p:sp>
      <p:graphicFrame>
        <p:nvGraphicFramePr>
          <p:cNvPr id="4" name="Content Placeholder 3">
            <a:extLst>
              <a:ext uri="{FF2B5EF4-FFF2-40B4-BE49-F238E27FC236}">
                <a16:creationId xmlns:a16="http://schemas.microsoft.com/office/drawing/2014/main" id="{3C8C2F17-D7AC-823A-7016-E07669EF83FE}"/>
              </a:ext>
            </a:extLst>
          </p:cNvPr>
          <p:cNvGraphicFramePr>
            <a:graphicFrameLocks noGrp="1"/>
          </p:cNvGraphicFramePr>
          <p:nvPr>
            <p:ph idx="1"/>
            <p:extLst>
              <p:ext uri="{D42A27DB-BD31-4B8C-83A1-F6EECF244321}">
                <p14:modId xmlns:p14="http://schemas.microsoft.com/office/powerpoint/2010/main" val="3014026037"/>
              </p:ext>
            </p:extLst>
          </p:nvPr>
        </p:nvGraphicFramePr>
        <p:xfrm>
          <a:off x="1757680" y="1676400"/>
          <a:ext cx="8920480" cy="4480560"/>
        </p:xfrm>
        <a:graphic>
          <a:graphicData uri="http://schemas.openxmlformats.org/drawingml/2006/table">
            <a:tbl>
              <a:tblPr firstRow="1" firstCol="1" bandRow="1">
                <a:tableStyleId>{F2DE63D5-997A-4646-A377-4702673A728D}</a:tableStyleId>
              </a:tblPr>
              <a:tblGrid>
                <a:gridCol w="2972858">
                  <a:extLst>
                    <a:ext uri="{9D8B030D-6E8A-4147-A177-3AD203B41FA5}">
                      <a16:colId xmlns:a16="http://schemas.microsoft.com/office/drawing/2014/main" val="35211055"/>
                    </a:ext>
                  </a:extLst>
                </a:gridCol>
                <a:gridCol w="2973811">
                  <a:extLst>
                    <a:ext uri="{9D8B030D-6E8A-4147-A177-3AD203B41FA5}">
                      <a16:colId xmlns:a16="http://schemas.microsoft.com/office/drawing/2014/main" val="492246666"/>
                    </a:ext>
                  </a:extLst>
                </a:gridCol>
                <a:gridCol w="2973811">
                  <a:extLst>
                    <a:ext uri="{9D8B030D-6E8A-4147-A177-3AD203B41FA5}">
                      <a16:colId xmlns:a16="http://schemas.microsoft.com/office/drawing/2014/main" val="1472701453"/>
                    </a:ext>
                  </a:extLst>
                </a:gridCol>
              </a:tblGrid>
              <a:tr h="640080">
                <a:tc>
                  <a:txBody>
                    <a:bodyPr/>
                    <a:lstStyle/>
                    <a:p>
                      <a:pPr marL="0" marR="0" algn="just">
                        <a:lnSpc>
                          <a:spcPct val="115000"/>
                        </a:lnSpc>
                        <a:spcAft>
                          <a:spcPts val="800"/>
                        </a:spcAft>
                        <a:buNone/>
                      </a:pPr>
                      <a:r>
                        <a:rPr lang="en-US" sz="1400" kern="100" dirty="0">
                          <a:effectLst/>
                          <a:latin typeface="Aptos" panose="020B0004020202020204" pitchFamily="34" charset="0"/>
                        </a:rPr>
                        <a:t>Expenses</a:t>
                      </a:r>
                      <a:endParaRPr lang="en-US" sz="14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marL="0" marR="0" algn="just">
                        <a:lnSpc>
                          <a:spcPct val="115000"/>
                        </a:lnSpc>
                        <a:spcAft>
                          <a:spcPts val="800"/>
                        </a:spcAft>
                        <a:buNone/>
                      </a:pPr>
                      <a:r>
                        <a:rPr lang="en-US" sz="1400" kern="100" dirty="0">
                          <a:effectLst/>
                          <a:latin typeface="Aptos" panose="020B0004020202020204" pitchFamily="34" charset="0"/>
                        </a:rPr>
                        <a:t>Amount (₦)</a:t>
                      </a:r>
                      <a:endParaRPr lang="en-US" sz="14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marL="0" marR="0" algn="just">
                        <a:lnSpc>
                          <a:spcPct val="115000"/>
                        </a:lnSpc>
                        <a:spcAft>
                          <a:spcPts val="800"/>
                        </a:spcAft>
                        <a:buNone/>
                      </a:pPr>
                      <a:r>
                        <a:rPr lang="en-US" sz="1400" kern="100" dirty="0">
                          <a:effectLst/>
                          <a:latin typeface="Aptos" panose="020B0004020202020204" pitchFamily="34" charset="0"/>
                        </a:rPr>
                        <a:t>Percentage (%)</a:t>
                      </a:r>
                      <a:endParaRPr lang="en-US" sz="14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058147496"/>
                  </a:ext>
                </a:extLst>
              </a:tr>
              <a:tr h="640080">
                <a:tc>
                  <a:txBody>
                    <a:bodyPr/>
                    <a:lstStyle/>
                    <a:p>
                      <a:pPr marL="0" marR="0" algn="just">
                        <a:lnSpc>
                          <a:spcPct val="115000"/>
                        </a:lnSpc>
                        <a:spcAft>
                          <a:spcPts val="800"/>
                        </a:spcAft>
                        <a:buNone/>
                      </a:pPr>
                      <a:r>
                        <a:rPr lang="en-US" sz="1400" kern="100">
                          <a:effectLst/>
                          <a:latin typeface="Aptos" panose="020B0004020202020204" pitchFamily="34" charset="0"/>
                        </a:rPr>
                        <a:t>Salary</a:t>
                      </a:r>
                      <a:endParaRPr lang="en-US" sz="14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marL="0" marR="0" algn="just">
                        <a:lnSpc>
                          <a:spcPct val="115000"/>
                        </a:lnSpc>
                        <a:spcAft>
                          <a:spcPts val="800"/>
                        </a:spcAft>
                        <a:buNone/>
                      </a:pPr>
                      <a:r>
                        <a:rPr lang="en-US" sz="1400" kern="100" dirty="0">
                          <a:effectLst/>
                          <a:latin typeface="Aptos" panose="020B0004020202020204" pitchFamily="34" charset="0"/>
                        </a:rPr>
                        <a:t>5,032,025</a:t>
                      </a:r>
                      <a:endParaRPr lang="en-US" sz="14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marL="0" marR="0" algn="just">
                        <a:lnSpc>
                          <a:spcPct val="115000"/>
                        </a:lnSpc>
                        <a:spcAft>
                          <a:spcPts val="800"/>
                        </a:spcAft>
                        <a:buNone/>
                      </a:pPr>
                      <a:r>
                        <a:rPr lang="en-US" sz="1400" kern="100" dirty="0">
                          <a:effectLst/>
                          <a:latin typeface="Aptos" panose="020B0004020202020204" pitchFamily="34" charset="0"/>
                        </a:rPr>
                        <a:t>43.92</a:t>
                      </a:r>
                      <a:endParaRPr lang="en-US" sz="14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467564999"/>
                  </a:ext>
                </a:extLst>
              </a:tr>
              <a:tr h="640080">
                <a:tc>
                  <a:txBody>
                    <a:bodyPr/>
                    <a:lstStyle/>
                    <a:p>
                      <a:pPr marL="0" marR="0" algn="just">
                        <a:lnSpc>
                          <a:spcPct val="115000"/>
                        </a:lnSpc>
                        <a:spcAft>
                          <a:spcPts val="800"/>
                        </a:spcAft>
                        <a:buNone/>
                      </a:pPr>
                      <a:r>
                        <a:rPr lang="en-US" sz="1400" kern="100">
                          <a:effectLst/>
                          <a:latin typeface="Aptos" panose="020B0004020202020204" pitchFamily="34" charset="0"/>
                        </a:rPr>
                        <a:t>Fuel</a:t>
                      </a:r>
                      <a:endParaRPr lang="en-US" sz="14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marL="0" marR="0" algn="just">
                        <a:lnSpc>
                          <a:spcPct val="115000"/>
                        </a:lnSpc>
                        <a:spcAft>
                          <a:spcPts val="800"/>
                        </a:spcAft>
                        <a:buNone/>
                      </a:pPr>
                      <a:r>
                        <a:rPr lang="en-US" sz="1400" kern="100" dirty="0">
                          <a:effectLst/>
                          <a:latin typeface="Aptos" panose="020B0004020202020204" pitchFamily="34" charset="0"/>
                        </a:rPr>
                        <a:t>3,209,600</a:t>
                      </a:r>
                      <a:endParaRPr lang="en-US" sz="14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marL="0" marR="0" algn="just">
                        <a:lnSpc>
                          <a:spcPct val="115000"/>
                        </a:lnSpc>
                        <a:spcAft>
                          <a:spcPts val="800"/>
                        </a:spcAft>
                        <a:buNone/>
                      </a:pPr>
                      <a:r>
                        <a:rPr lang="en-US" sz="1400" kern="100" dirty="0">
                          <a:effectLst/>
                          <a:latin typeface="Aptos" panose="020B0004020202020204" pitchFamily="34" charset="0"/>
                        </a:rPr>
                        <a:t>28.01</a:t>
                      </a:r>
                      <a:endParaRPr lang="en-US" sz="14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329282"/>
                  </a:ext>
                </a:extLst>
              </a:tr>
              <a:tr h="640080">
                <a:tc>
                  <a:txBody>
                    <a:bodyPr/>
                    <a:lstStyle/>
                    <a:p>
                      <a:pPr marL="0" marR="0" algn="just">
                        <a:lnSpc>
                          <a:spcPct val="115000"/>
                        </a:lnSpc>
                        <a:spcAft>
                          <a:spcPts val="800"/>
                        </a:spcAft>
                        <a:buNone/>
                      </a:pPr>
                      <a:r>
                        <a:rPr lang="en-US" sz="1400" kern="100">
                          <a:effectLst/>
                          <a:latin typeface="Aptos" panose="020B0004020202020204" pitchFamily="34" charset="0"/>
                        </a:rPr>
                        <a:t>Miscellaneous</a:t>
                      </a:r>
                      <a:endParaRPr lang="en-US" sz="14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marL="0" marR="0" algn="just">
                        <a:lnSpc>
                          <a:spcPct val="115000"/>
                        </a:lnSpc>
                        <a:spcAft>
                          <a:spcPts val="800"/>
                        </a:spcAft>
                        <a:buNone/>
                      </a:pPr>
                      <a:r>
                        <a:rPr lang="en-US" sz="1400" kern="100">
                          <a:effectLst/>
                          <a:latin typeface="Aptos" panose="020B0004020202020204" pitchFamily="34" charset="0"/>
                        </a:rPr>
                        <a:t>2,007,519</a:t>
                      </a:r>
                      <a:endParaRPr lang="en-US" sz="14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marL="0" marR="0" algn="just">
                        <a:lnSpc>
                          <a:spcPct val="115000"/>
                        </a:lnSpc>
                        <a:spcAft>
                          <a:spcPts val="800"/>
                        </a:spcAft>
                        <a:buNone/>
                      </a:pPr>
                      <a:r>
                        <a:rPr lang="en-US" sz="1400" kern="100" dirty="0">
                          <a:effectLst/>
                          <a:latin typeface="Aptos" panose="020B0004020202020204" pitchFamily="34" charset="0"/>
                        </a:rPr>
                        <a:t>17.52</a:t>
                      </a:r>
                      <a:endParaRPr lang="en-US" sz="14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067254012"/>
                  </a:ext>
                </a:extLst>
              </a:tr>
              <a:tr h="640080">
                <a:tc>
                  <a:txBody>
                    <a:bodyPr/>
                    <a:lstStyle/>
                    <a:p>
                      <a:pPr marL="0" marR="0" algn="just">
                        <a:lnSpc>
                          <a:spcPct val="115000"/>
                        </a:lnSpc>
                        <a:spcAft>
                          <a:spcPts val="800"/>
                        </a:spcAft>
                        <a:buNone/>
                      </a:pPr>
                      <a:r>
                        <a:rPr lang="en-US" sz="1400" kern="100">
                          <a:effectLst/>
                          <a:latin typeface="Aptos" panose="020B0004020202020204" pitchFamily="34" charset="0"/>
                        </a:rPr>
                        <a:t>Repair and Services</a:t>
                      </a:r>
                      <a:endParaRPr lang="en-US" sz="14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marL="0" marR="0" algn="just">
                        <a:lnSpc>
                          <a:spcPct val="115000"/>
                        </a:lnSpc>
                        <a:spcAft>
                          <a:spcPts val="800"/>
                        </a:spcAft>
                        <a:buNone/>
                      </a:pPr>
                      <a:r>
                        <a:rPr lang="en-US" sz="1400" kern="100" dirty="0">
                          <a:effectLst/>
                          <a:latin typeface="Aptos" panose="020B0004020202020204" pitchFamily="34" charset="0"/>
                        </a:rPr>
                        <a:t>793,250</a:t>
                      </a:r>
                      <a:endParaRPr lang="en-US" sz="14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marL="0" marR="0" algn="just">
                        <a:lnSpc>
                          <a:spcPct val="115000"/>
                        </a:lnSpc>
                        <a:spcAft>
                          <a:spcPts val="800"/>
                        </a:spcAft>
                        <a:buNone/>
                      </a:pPr>
                      <a:r>
                        <a:rPr lang="en-US" sz="1400" kern="100" dirty="0">
                          <a:effectLst/>
                          <a:latin typeface="Aptos" panose="020B0004020202020204" pitchFamily="34" charset="0"/>
                        </a:rPr>
                        <a:t>6.92</a:t>
                      </a:r>
                      <a:endParaRPr lang="en-US" sz="14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899316968"/>
                  </a:ext>
                </a:extLst>
              </a:tr>
              <a:tr h="640080">
                <a:tc>
                  <a:txBody>
                    <a:bodyPr/>
                    <a:lstStyle/>
                    <a:p>
                      <a:pPr marL="0" marR="0" algn="just">
                        <a:lnSpc>
                          <a:spcPct val="115000"/>
                        </a:lnSpc>
                        <a:spcAft>
                          <a:spcPts val="800"/>
                        </a:spcAft>
                        <a:buNone/>
                      </a:pPr>
                      <a:r>
                        <a:rPr lang="en-US" sz="1400" kern="100">
                          <a:effectLst/>
                          <a:latin typeface="Aptos" panose="020B0004020202020204" pitchFamily="34" charset="0"/>
                        </a:rPr>
                        <a:t>Airtime</a:t>
                      </a:r>
                      <a:endParaRPr lang="en-US" sz="14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marL="0" marR="0" algn="just">
                        <a:lnSpc>
                          <a:spcPct val="115000"/>
                        </a:lnSpc>
                        <a:spcAft>
                          <a:spcPts val="800"/>
                        </a:spcAft>
                        <a:buNone/>
                      </a:pPr>
                      <a:r>
                        <a:rPr lang="en-US" sz="1400" kern="100" dirty="0">
                          <a:effectLst/>
                          <a:latin typeface="Aptos" panose="020B0004020202020204" pitchFamily="34" charset="0"/>
                        </a:rPr>
                        <a:t>392,500</a:t>
                      </a:r>
                      <a:endParaRPr lang="en-US" sz="14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marL="0" marR="0" algn="just">
                        <a:lnSpc>
                          <a:spcPct val="115000"/>
                        </a:lnSpc>
                        <a:spcAft>
                          <a:spcPts val="800"/>
                        </a:spcAft>
                        <a:buNone/>
                      </a:pPr>
                      <a:r>
                        <a:rPr lang="en-US" sz="1400" kern="100" dirty="0">
                          <a:effectLst/>
                          <a:latin typeface="Aptos" panose="020B0004020202020204" pitchFamily="34" charset="0"/>
                        </a:rPr>
                        <a:t>3.43</a:t>
                      </a:r>
                      <a:endParaRPr lang="en-US" sz="14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475081565"/>
                  </a:ext>
                </a:extLst>
              </a:tr>
              <a:tr h="640080">
                <a:tc>
                  <a:txBody>
                    <a:bodyPr/>
                    <a:lstStyle/>
                    <a:p>
                      <a:pPr marL="0" marR="0" algn="just">
                        <a:lnSpc>
                          <a:spcPct val="115000"/>
                        </a:lnSpc>
                        <a:spcAft>
                          <a:spcPts val="800"/>
                        </a:spcAft>
                        <a:buNone/>
                      </a:pPr>
                      <a:r>
                        <a:rPr lang="en-US" sz="1400" kern="100" dirty="0">
                          <a:effectLst/>
                          <a:latin typeface="Aptos" panose="020B0004020202020204" pitchFamily="34" charset="0"/>
                        </a:rPr>
                        <a:t>Police</a:t>
                      </a:r>
                      <a:endParaRPr lang="en-US" sz="14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marL="0" marR="0" algn="just">
                        <a:lnSpc>
                          <a:spcPct val="115000"/>
                        </a:lnSpc>
                        <a:spcAft>
                          <a:spcPts val="800"/>
                        </a:spcAft>
                        <a:buNone/>
                      </a:pPr>
                      <a:r>
                        <a:rPr lang="en-US" sz="1400" kern="100" dirty="0">
                          <a:effectLst/>
                          <a:latin typeface="Aptos" panose="020B0004020202020204" pitchFamily="34" charset="0"/>
                        </a:rPr>
                        <a:t>22,500</a:t>
                      </a:r>
                      <a:endParaRPr lang="en-US" sz="14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marL="0" marR="0" algn="just">
                        <a:lnSpc>
                          <a:spcPct val="115000"/>
                        </a:lnSpc>
                        <a:spcAft>
                          <a:spcPts val="800"/>
                        </a:spcAft>
                        <a:buNone/>
                      </a:pPr>
                      <a:r>
                        <a:rPr lang="en-US" sz="1400" kern="100" dirty="0">
                          <a:effectLst/>
                          <a:latin typeface="Aptos" panose="020B0004020202020204" pitchFamily="34" charset="0"/>
                        </a:rPr>
                        <a:t>0.2</a:t>
                      </a:r>
                      <a:endParaRPr lang="en-US" sz="14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4202682388"/>
                  </a:ext>
                </a:extLst>
              </a:tr>
            </a:tbl>
          </a:graphicData>
        </a:graphic>
      </p:graphicFrame>
    </p:spTree>
    <p:extLst>
      <p:ext uri="{BB962C8B-B14F-4D97-AF65-F5344CB8AC3E}">
        <p14:creationId xmlns:p14="http://schemas.microsoft.com/office/powerpoint/2010/main" val="155208686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057C55-ED17-0241-E0CE-90F9A9BB170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F0A863E-8223-1728-4648-BF63F6616BFA}"/>
              </a:ext>
            </a:extLst>
          </p:cNvPr>
          <p:cNvSpPr>
            <a:spLocks noGrp="1"/>
          </p:cNvSpPr>
          <p:nvPr>
            <p:ph type="title"/>
          </p:nvPr>
        </p:nvSpPr>
        <p:spPr>
          <a:xfrm>
            <a:off x="913796" y="0"/>
            <a:ext cx="10353761" cy="1326321"/>
          </a:xfrm>
        </p:spPr>
        <p:txBody>
          <a:bodyPr/>
          <a:lstStyle/>
          <a:p>
            <a:r>
              <a:rPr lang="en-US" dirty="0">
                <a:effectLst/>
                <a:latin typeface="Aptos" panose="020B0004020202020204" pitchFamily="34" charset="0"/>
              </a:rPr>
              <a:t>Data Transformation, Analysis and Insights CONT’D</a:t>
            </a:r>
            <a:endParaRPr lang="en-US" dirty="0"/>
          </a:p>
        </p:txBody>
      </p:sp>
      <p:sp>
        <p:nvSpPr>
          <p:cNvPr id="3" name="Content Placeholder 2">
            <a:extLst>
              <a:ext uri="{FF2B5EF4-FFF2-40B4-BE49-F238E27FC236}">
                <a16:creationId xmlns:a16="http://schemas.microsoft.com/office/drawing/2014/main" id="{DEBEAAA5-C940-B764-6C7F-D52392BBB2CD}"/>
              </a:ext>
            </a:extLst>
          </p:cNvPr>
          <p:cNvSpPr>
            <a:spLocks noGrp="1"/>
          </p:cNvSpPr>
          <p:nvPr>
            <p:ph idx="1"/>
          </p:nvPr>
        </p:nvSpPr>
        <p:spPr>
          <a:xfrm>
            <a:off x="924442" y="1181664"/>
            <a:ext cx="10556358" cy="5026096"/>
          </a:xfrm>
        </p:spPr>
        <p:txBody>
          <a:bodyPr>
            <a:normAutofit fontScale="77500" lnSpcReduction="20000"/>
          </a:bodyPr>
          <a:lstStyle/>
          <a:p>
            <a:r>
              <a:rPr lang="en-US" sz="2200" b="1" dirty="0">
                <a:effectLst/>
                <a:latin typeface="Aptos" panose="020B0004020202020204" pitchFamily="34" charset="0"/>
              </a:rPr>
              <a:t>2</a:t>
            </a:r>
            <a:r>
              <a:rPr lang="en-US" sz="2200" b="1" baseline="30000" dirty="0">
                <a:effectLst/>
                <a:latin typeface="Aptos" panose="020B0004020202020204" pitchFamily="34" charset="0"/>
              </a:rPr>
              <a:t>nd</a:t>
            </a:r>
            <a:r>
              <a:rPr lang="en-US" sz="2200" b="1" dirty="0">
                <a:effectLst/>
                <a:latin typeface="Aptos" panose="020B0004020202020204" pitchFamily="34" charset="0"/>
              </a:rPr>
              <a:t> Objective: </a:t>
            </a:r>
            <a:r>
              <a:rPr lang="en-US" sz="2200" dirty="0">
                <a:effectLst/>
                <a:latin typeface="Aptos" panose="020B0004020202020204" pitchFamily="34" charset="0"/>
              </a:rPr>
              <a:t>Analyze order trends and patterns to understand business demand, operational performance, and revenue generation across different time periods.</a:t>
            </a:r>
          </a:p>
          <a:p>
            <a:pPr marL="457200" lvl="0" indent="-457200">
              <a:buFont typeface="+mj-lt"/>
              <a:buAutoNum type="arabicPeriod"/>
            </a:pPr>
            <a:r>
              <a:rPr lang="en-US" sz="2400" dirty="0">
                <a:effectLst/>
                <a:latin typeface="Aptos" panose="020B0004020202020204" pitchFamily="34" charset="0"/>
              </a:rPr>
              <a:t>The first chart indicates the (top 10) days with the highest order, where </a:t>
            </a:r>
            <a:r>
              <a:rPr lang="en-US" sz="2400" b="1" dirty="0">
                <a:effectLst/>
                <a:latin typeface="Aptos" panose="020B0004020202020204" pitchFamily="34" charset="0"/>
              </a:rPr>
              <a:t>2nd February 2026</a:t>
            </a:r>
            <a:r>
              <a:rPr lang="en-US" sz="2400" dirty="0">
                <a:effectLst/>
                <a:latin typeface="Aptos" panose="020B0004020202020204" pitchFamily="34" charset="0"/>
              </a:rPr>
              <a:t> recorded the highest number of orders at </a:t>
            </a:r>
            <a:r>
              <a:rPr lang="en-US" sz="2400" b="1" dirty="0">
                <a:effectLst/>
                <a:latin typeface="Aptos" panose="020B0004020202020204" pitchFamily="34" charset="0"/>
              </a:rPr>
              <a:t>81</a:t>
            </a:r>
            <a:r>
              <a:rPr lang="en-US" sz="2400" dirty="0">
                <a:effectLst/>
                <a:latin typeface="Aptos" panose="020B0004020202020204" pitchFamily="34" charset="0"/>
              </a:rPr>
              <a:t>, while </a:t>
            </a:r>
            <a:r>
              <a:rPr lang="en-US" sz="2400" b="1" dirty="0">
                <a:effectLst/>
                <a:latin typeface="Aptos" panose="020B0004020202020204" pitchFamily="34" charset="0"/>
              </a:rPr>
              <a:t>26th March 2026</a:t>
            </a:r>
            <a:r>
              <a:rPr lang="en-US" sz="2400" dirty="0">
                <a:effectLst/>
                <a:latin typeface="Aptos" panose="020B0004020202020204" pitchFamily="34" charset="0"/>
              </a:rPr>
              <a:t> recorded the lowest number of orders at </a:t>
            </a:r>
            <a:r>
              <a:rPr lang="en-US" sz="2400" b="1" dirty="0">
                <a:effectLst/>
                <a:latin typeface="Aptos" panose="020B0004020202020204" pitchFamily="34" charset="0"/>
              </a:rPr>
              <a:t>53</a:t>
            </a:r>
            <a:r>
              <a:rPr lang="en-US" sz="2400" dirty="0">
                <a:effectLst/>
                <a:latin typeface="Aptos" panose="020B0004020202020204" pitchFamily="34" charset="0"/>
              </a:rPr>
              <a:t>.</a:t>
            </a:r>
          </a:p>
          <a:p>
            <a:pPr marL="457200" lvl="0" indent="-457200">
              <a:buFont typeface="+mj-lt"/>
              <a:buAutoNum type="arabicPeriod"/>
            </a:pPr>
            <a:r>
              <a:rPr lang="en-US" sz="2400" dirty="0">
                <a:effectLst/>
                <a:latin typeface="Aptos" panose="020B0004020202020204" pitchFamily="34" charset="0"/>
              </a:rPr>
              <a:t>The second chart shows the distribution of orders across the days of the week from </a:t>
            </a:r>
            <a:r>
              <a:rPr lang="en-US" sz="2400" b="1" dirty="0">
                <a:effectLst/>
                <a:latin typeface="Aptos" panose="020B0004020202020204" pitchFamily="34" charset="0"/>
              </a:rPr>
              <a:t>13th January 2025 to 31st March 2026</a:t>
            </a:r>
            <a:r>
              <a:rPr lang="en-US" sz="2400" dirty="0">
                <a:effectLst/>
                <a:latin typeface="Aptos" panose="020B0004020202020204" pitchFamily="34" charset="0"/>
              </a:rPr>
              <a:t>, where </a:t>
            </a:r>
            <a:r>
              <a:rPr lang="en-US" sz="2400" b="1" dirty="0">
                <a:effectLst/>
                <a:latin typeface="Aptos" panose="020B0004020202020204" pitchFamily="34" charset="0"/>
              </a:rPr>
              <a:t>Thursdays</a:t>
            </a:r>
            <a:r>
              <a:rPr lang="en-US" sz="2400" dirty="0">
                <a:effectLst/>
                <a:latin typeface="Aptos" panose="020B0004020202020204" pitchFamily="34" charset="0"/>
              </a:rPr>
              <a:t> recorded the highest number of orders at </a:t>
            </a:r>
            <a:r>
              <a:rPr lang="en-US" sz="2400" b="1" dirty="0">
                <a:effectLst/>
                <a:latin typeface="Aptos" panose="020B0004020202020204" pitchFamily="34" charset="0"/>
              </a:rPr>
              <a:t>One Thousand, Nine Hundred and Sixty-One (1,961)</a:t>
            </a:r>
            <a:r>
              <a:rPr lang="en-US" sz="2400" dirty="0">
                <a:effectLst/>
                <a:latin typeface="Aptos" panose="020B0004020202020204" pitchFamily="34" charset="0"/>
              </a:rPr>
              <a:t>, while </a:t>
            </a:r>
            <a:r>
              <a:rPr lang="en-US" sz="2400" b="1" dirty="0">
                <a:effectLst/>
                <a:latin typeface="Aptos" panose="020B0004020202020204" pitchFamily="34" charset="0"/>
              </a:rPr>
              <a:t>Sundays</a:t>
            </a:r>
            <a:r>
              <a:rPr lang="en-US" sz="2400" dirty="0">
                <a:effectLst/>
                <a:latin typeface="Aptos" panose="020B0004020202020204" pitchFamily="34" charset="0"/>
              </a:rPr>
              <a:t> recorded the lowest number of orders at </a:t>
            </a:r>
            <a:r>
              <a:rPr lang="en-US" sz="2400" b="1" dirty="0">
                <a:effectLst/>
                <a:latin typeface="Aptos" panose="020B0004020202020204" pitchFamily="34" charset="0"/>
              </a:rPr>
              <a:t>Twenty-Five (25)</a:t>
            </a:r>
            <a:r>
              <a:rPr lang="en-US" sz="2400" dirty="0">
                <a:effectLst/>
                <a:latin typeface="Aptos" panose="020B0004020202020204" pitchFamily="34" charset="0"/>
              </a:rPr>
              <a:t>.</a:t>
            </a:r>
          </a:p>
          <a:p>
            <a:pPr marL="457200" lvl="0" indent="-457200">
              <a:buFont typeface="+mj-lt"/>
              <a:buAutoNum type="arabicPeriod"/>
            </a:pPr>
            <a:r>
              <a:rPr lang="en-US" sz="2400" dirty="0">
                <a:effectLst/>
                <a:latin typeface="Aptos" panose="020B0004020202020204" pitchFamily="34" charset="0"/>
              </a:rPr>
              <a:t>The third chart indicates the top 10 weeks with the highest order, where </a:t>
            </a:r>
            <a:r>
              <a:rPr lang="en-US" sz="2400" b="1" dirty="0">
                <a:effectLst/>
                <a:latin typeface="Aptos" panose="020B0004020202020204" pitchFamily="34" charset="0"/>
              </a:rPr>
              <a:t>Week 9, 2026</a:t>
            </a:r>
            <a:r>
              <a:rPr lang="en-US" sz="2400" dirty="0">
                <a:effectLst/>
                <a:latin typeface="Aptos" panose="020B0004020202020204" pitchFamily="34" charset="0"/>
              </a:rPr>
              <a:t> recorded the highest number of orders at </a:t>
            </a:r>
            <a:r>
              <a:rPr lang="en-US" sz="2400" b="1" dirty="0">
                <a:effectLst/>
                <a:latin typeface="Aptos" panose="020B0004020202020204" pitchFamily="34" charset="0"/>
              </a:rPr>
              <a:t>Two Hundred and Eighty-Nine (289)</a:t>
            </a:r>
            <a:r>
              <a:rPr lang="en-US" sz="2400" dirty="0">
                <a:effectLst/>
                <a:latin typeface="Aptos" panose="020B0004020202020204" pitchFamily="34" charset="0"/>
              </a:rPr>
              <a:t>, while </a:t>
            </a:r>
            <a:r>
              <a:rPr lang="en-US" sz="2400" b="1" dirty="0">
                <a:effectLst/>
                <a:latin typeface="Aptos" panose="020B0004020202020204" pitchFamily="34" charset="0"/>
              </a:rPr>
              <a:t>Week 47, 2025</a:t>
            </a:r>
            <a:r>
              <a:rPr lang="en-US" sz="2400" dirty="0">
                <a:effectLst/>
                <a:latin typeface="Aptos" panose="020B0004020202020204" pitchFamily="34" charset="0"/>
              </a:rPr>
              <a:t> recorded the lowest number of orders at </a:t>
            </a:r>
            <a:r>
              <a:rPr lang="en-US" sz="2400" b="1" dirty="0">
                <a:effectLst/>
                <a:latin typeface="Aptos" panose="020B0004020202020204" pitchFamily="34" charset="0"/>
              </a:rPr>
              <a:t>Two Hundred and Ten (210)</a:t>
            </a:r>
            <a:r>
              <a:rPr lang="en-US" sz="2400" dirty="0">
                <a:effectLst/>
                <a:latin typeface="Aptos" panose="020B0004020202020204" pitchFamily="34" charset="0"/>
              </a:rPr>
              <a:t>.</a:t>
            </a:r>
          </a:p>
          <a:p>
            <a:pPr marL="457200" lvl="0" indent="-457200">
              <a:buFont typeface="+mj-lt"/>
              <a:buAutoNum type="arabicPeriod"/>
            </a:pPr>
            <a:r>
              <a:rPr lang="en-US" sz="2400" dirty="0">
                <a:effectLst/>
                <a:latin typeface="Aptos" panose="020B0004020202020204" pitchFamily="34" charset="0"/>
              </a:rPr>
              <a:t>The fourth chart shows the month with the highest order, where </a:t>
            </a:r>
            <a:r>
              <a:rPr lang="en-US" sz="2400" b="1" dirty="0">
                <a:effectLst/>
                <a:latin typeface="Aptos" panose="020B0004020202020204" pitchFamily="34" charset="0"/>
              </a:rPr>
              <a:t>February 2026</a:t>
            </a:r>
            <a:r>
              <a:rPr lang="en-US" sz="2400" dirty="0">
                <a:effectLst/>
                <a:latin typeface="Aptos" panose="020B0004020202020204" pitchFamily="34" charset="0"/>
              </a:rPr>
              <a:t> recorded the highest number of orders at </a:t>
            </a:r>
            <a:r>
              <a:rPr lang="en-US" sz="2400" b="1" dirty="0">
                <a:effectLst/>
                <a:latin typeface="Aptos" panose="020B0004020202020204" pitchFamily="34" charset="0"/>
              </a:rPr>
              <a:t>Nine Hundred and Ninety-Nine (999)</a:t>
            </a:r>
            <a:r>
              <a:rPr lang="en-US" sz="2400" dirty="0">
                <a:effectLst/>
                <a:latin typeface="Aptos" panose="020B0004020202020204" pitchFamily="34" charset="0"/>
              </a:rPr>
              <a:t>, while </a:t>
            </a:r>
            <a:r>
              <a:rPr lang="en-US" sz="2400" b="1" dirty="0">
                <a:effectLst/>
                <a:latin typeface="Aptos" panose="020B0004020202020204" pitchFamily="34" charset="0"/>
              </a:rPr>
              <a:t>January 2025</a:t>
            </a:r>
            <a:r>
              <a:rPr lang="en-US" sz="2400" dirty="0">
                <a:effectLst/>
                <a:latin typeface="Aptos" panose="020B0004020202020204" pitchFamily="34" charset="0"/>
              </a:rPr>
              <a:t> recorded the lowest number of orders at </a:t>
            </a:r>
            <a:r>
              <a:rPr lang="en-US" sz="2400" b="1" dirty="0">
                <a:effectLst/>
                <a:latin typeface="Aptos" panose="020B0004020202020204" pitchFamily="34" charset="0"/>
              </a:rPr>
              <a:t>Three Hundred and Thirty-Three (333)</a:t>
            </a:r>
            <a:r>
              <a:rPr lang="en-US" sz="2400" dirty="0">
                <a:effectLst/>
                <a:latin typeface="Aptos" panose="020B0004020202020204" pitchFamily="34" charset="0"/>
              </a:rPr>
              <a:t>.</a:t>
            </a:r>
          </a:p>
          <a:p>
            <a:pPr marL="0" lvl="0" indent="0">
              <a:buNone/>
            </a:pPr>
            <a:endParaRPr lang="en-US" sz="2200" dirty="0">
              <a:effectLst/>
              <a:latin typeface="Aptos" panose="020B0004020202020204" pitchFamily="34" charset="0"/>
            </a:endParaRPr>
          </a:p>
          <a:p>
            <a:pPr marL="0" indent="0">
              <a:buNone/>
            </a:pPr>
            <a:endParaRPr lang="en-US" dirty="0">
              <a:latin typeface="Aptos" panose="020B0004020202020204" pitchFamily="34" charset="0"/>
            </a:endParaRPr>
          </a:p>
        </p:txBody>
      </p:sp>
    </p:spTree>
    <p:extLst>
      <p:ext uri="{BB962C8B-B14F-4D97-AF65-F5344CB8AC3E}">
        <p14:creationId xmlns:p14="http://schemas.microsoft.com/office/powerpoint/2010/main" val="286247104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334764-8078-1D81-D25A-21D543C828B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878617A-CF6F-2693-D78E-4BE6850B2967}"/>
              </a:ext>
            </a:extLst>
          </p:cNvPr>
          <p:cNvSpPr>
            <a:spLocks noGrp="1"/>
          </p:cNvSpPr>
          <p:nvPr>
            <p:ph type="title"/>
          </p:nvPr>
        </p:nvSpPr>
        <p:spPr>
          <a:xfrm>
            <a:off x="913796" y="0"/>
            <a:ext cx="10353761" cy="1326321"/>
          </a:xfrm>
        </p:spPr>
        <p:txBody>
          <a:bodyPr/>
          <a:lstStyle/>
          <a:p>
            <a:pPr lvl="0"/>
            <a:r>
              <a:rPr lang="en-US" dirty="0">
                <a:effectLst/>
                <a:latin typeface="Aptos" panose="020B0004020202020204" pitchFamily="34" charset="0"/>
              </a:rPr>
              <a:t>Visualization</a:t>
            </a:r>
          </a:p>
        </p:txBody>
      </p:sp>
      <p:sp>
        <p:nvSpPr>
          <p:cNvPr id="3" name="Content Placeholder 2">
            <a:extLst>
              <a:ext uri="{FF2B5EF4-FFF2-40B4-BE49-F238E27FC236}">
                <a16:creationId xmlns:a16="http://schemas.microsoft.com/office/drawing/2014/main" id="{1B7951A6-7F5C-0272-DB96-F843AEEDBC2A}"/>
              </a:ext>
            </a:extLst>
          </p:cNvPr>
          <p:cNvSpPr>
            <a:spLocks noGrp="1"/>
          </p:cNvSpPr>
          <p:nvPr>
            <p:ph idx="1"/>
          </p:nvPr>
        </p:nvSpPr>
        <p:spPr>
          <a:xfrm>
            <a:off x="924442" y="1181664"/>
            <a:ext cx="10556358" cy="5026096"/>
          </a:xfrm>
        </p:spPr>
        <p:txBody>
          <a:bodyPr>
            <a:normAutofit/>
          </a:bodyPr>
          <a:lstStyle/>
          <a:p>
            <a:pPr marL="457200" indent="-457200">
              <a:buAutoNum type="arabicPeriod"/>
            </a:pPr>
            <a:r>
              <a:rPr lang="en-US" b="1" dirty="0">
                <a:effectLst/>
                <a:latin typeface="Aptos" panose="020B0004020202020204" pitchFamily="34" charset="0"/>
              </a:rPr>
              <a:t>The Overview</a:t>
            </a:r>
          </a:p>
          <a:p>
            <a:pPr marL="457200" indent="-457200">
              <a:buAutoNum type="arabicPeriod"/>
            </a:pPr>
            <a:endParaRPr lang="en-US" b="1" dirty="0">
              <a:effectLst/>
              <a:latin typeface="Aptos" panose="020B0004020202020204" pitchFamily="34" charset="0"/>
            </a:endParaRPr>
          </a:p>
          <a:p>
            <a:pPr marL="0" indent="0">
              <a:buNone/>
            </a:pPr>
            <a:endParaRPr lang="en-US" dirty="0">
              <a:latin typeface="Aptos" panose="020B0004020202020204" pitchFamily="34" charset="0"/>
            </a:endParaRPr>
          </a:p>
        </p:txBody>
      </p:sp>
      <p:pic>
        <p:nvPicPr>
          <p:cNvPr id="5" name="Picture 4">
            <a:extLst>
              <a:ext uri="{FF2B5EF4-FFF2-40B4-BE49-F238E27FC236}">
                <a16:creationId xmlns:a16="http://schemas.microsoft.com/office/drawing/2014/main" id="{9E7C812F-7F2C-8900-5B26-15CEE6AE3436}"/>
              </a:ext>
            </a:extLst>
          </p:cNvPr>
          <p:cNvPicPr>
            <a:picLocks noChangeAspect="1"/>
          </p:cNvPicPr>
          <p:nvPr/>
        </p:nvPicPr>
        <p:blipFill>
          <a:blip r:embed="rId2"/>
          <a:stretch>
            <a:fillRect/>
          </a:stretch>
        </p:blipFill>
        <p:spPr>
          <a:xfrm>
            <a:off x="1613886" y="1831460"/>
            <a:ext cx="8403874" cy="4784045"/>
          </a:xfrm>
          <a:prstGeom prst="rect">
            <a:avLst/>
          </a:prstGeom>
        </p:spPr>
      </p:pic>
    </p:spTree>
    <p:extLst>
      <p:ext uri="{BB962C8B-B14F-4D97-AF65-F5344CB8AC3E}">
        <p14:creationId xmlns:p14="http://schemas.microsoft.com/office/powerpoint/2010/main" val="183434342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1F0A5F-FAF9-5CF4-DB29-1BC0D0A2A00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137192E-63F9-E05F-E5B2-BA7CB3D13203}"/>
              </a:ext>
            </a:extLst>
          </p:cNvPr>
          <p:cNvSpPr>
            <a:spLocks noGrp="1"/>
          </p:cNvSpPr>
          <p:nvPr>
            <p:ph type="title"/>
          </p:nvPr>
        </p:nvSpPr>
        <p:spPr>
          <a:xfrm>
            <a:off x="913796" y="0"/>
            <a:ext cx="10353761" cy="1326321"/>
          </a:xfrm>
        </p:spPr>
        <p:txBody>
          <a:bodyPr/>
          <a:lstStyle/>
          <a:p>
            <a:pPr lvl="0"/>
            <a:r>
              <a:rPr lang="en-US" dirty="0">
                <a:effectLst/>
                <a:latin typeface="Aptos" panose="020B0004020202020204" pitchFamily="34" charset="0"/>
              </a:rPr>
              <a:t>Visualization</a:t>
            </a:r>
          </a:p>
        </p:txBody>
      </p:sp>
      <p:sp>
        <p:nvSpPr>
          <p:cNvPr id="3" name="Content Placeholder 2">
            <a:extLst>
              <a:ext uri="{FF2B5EF4-FFF2-40B4-BE49-F238E27FC236}">
                <a16:creationId xmlns:a16="http://schemas.microsoft.com/office/drawing/2014/main" id="{757E5B8C-9C35-077F-F775-B6E7DDD21F68}"/>
              </a:ext>
            </a:extLst>
          </p:cNvPr>
          <p:cNvSpPr>
            <a:spLocks noGrp="1"/>
          </p:cNvSpPr>
          <p:nvPr>
            <p:ph idx="1"/>
          </p:nvPr>
        </p:nvSpPr>
        <p:spPr>
          <a:xfrm>
            <a:off x="924442" y="1181664"/>
            <a:ext cx="10556358" cy="5026096"/>
          </a:xfrm>
        </p:spPr>
        <p:txBody>
          <a:bodyPr>
            <a:normAutofit/>
          </a:bodyPr>
          <a:lstStyle/>
          <a:p>
            <a:pPr marL="457200" indent="-457200">
              <a:buAutoNum type="arabicPeriod" startAt="2"/>
            </a:pPr>
            <a:r>
              <a:rPr lang="en-US" b="1" dirty="0">
                <a:effectLst/>
                <a:latin typeface="Aptos" panose="020B0004020202020204" pitchFamily="34" charset="0"/>
              </a:rPr>
              <a:t>Profit Trend Analysis</a:t>
            </a:r>
          </a:p>
          <a:p>
            <a:pPr marL="0" indent="0">
              <a:buNone/>
            </a:pPr>
            <a:endParaRPr lang="en-US" b="1" dirty="0">
              <a:effectLst/>
              <a:latin typeface="Aptos" panose="020B0004020202020204" pitchFamily="34" charset="0"/>
            </a:endParaRPr>
          </a:p>
          <a:p>
            <a:pPr marL="0" indent="0">
              <a:buNone/>
            </a:pPr>
            <a:endParaRPr lang="en-US" b="1" dirty="0">
              <a:effectLst/>
              <a:latin typeface="Aptos" panose="020B0004020202020204" pitchFamily="34" charset="0"/>
            </a:endParaRPr>
          </a:p>
          <a:p>
            <a:pPr marL="0" indent="0">
              <a:buNone/>
            </a:pPr>
            <a:endParaRPr lang="en-US" b="1" dirty="0">
              <a:effectLst/>
              <a:latin typeface="Aptos" panose="020B0004020202020204" pitchFamily="34" charset="0"/>
            </a:endParaRPr>
          </a:p>
          <a:p>
            <a:pPr marL="0" indent="0">
              <a:buNone/>
            </a:pPr>
            <a:endParaRPr lang="en-US" dirty="0">
              <a:latin typeface="Aptos" panose="020B0004020202020204" pitchFamily="34" charset="0"/>
            </a:endParaRPr>
          </a:p>
        </p:txBody>
      </p:sp>
      <p:pic>
        <p:nvPicPr>
          <p:cNvPr id="6" name="Picture 5">
            <a:extLst>
              <a:ext uri="{FF2B5EF4-FFF2-40B4-BE49-F238E27FC236}">
                <a16:creationId xmlns:a16="http://schemas.microsoft.com/office/drawing/2014/main" id="{5C3D02A7-ECD7-5A02-2D32-E62DA6380AAA}"/>
              </a:ext>
            </a:extLst>
          </p:cNvPr>
          <p:cNvPicPr>
            <a:picLocks noChangeAspect="1"/>
          </p:cNvPicPr>
          <p:nvPr/>
        </p:nvPicPr>
        <p:blipFill>
          <a:blip r:embed="rId2"/>
          <a:stretch>
            <a:fillRect/>
          </a:stretch>
        </p:blipFill>
        <p:spPr>
          <a:xfrm>
            <a:off x="2062480" y="1842824"/>
            <a:ext cx="8097519" cy="4537093"/>
          </a:xfrm>
          <a:prstGeom prst="rect">
            <a:avLst/>
          </a:prstGeom>
        </p:spPr>
      </p:pic>
    </p:spTree>
    <p:extLst>
      <p:ext uri="{BB962C8B-B14F-4D97-AF65-F5344CB8AC3E}">
        <p14:creationId xmlns:p14="http://schemas.microsoft.com/office/powerpoint/2010/main" val="116182889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2428CC-FFF7-E70F-9C45-4C7AFFDB7D6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580F427-A11B-750D-335F-61D2ADC573D8}"/>
              </a:ext>
            </a:extLst>
          </p:cNvPr>
          <p:cNvSpPr>
            <a:spLocks noGrp="1"/>
          </p:cNvSpPr>
          <p:nvPr>
            <p:ph type="title"/>
          </p:nvPr>
        </p:nvSpPr>
        <p:spPr>
          <a:xfrm>
            <a:off x="913796" y="0"/>
            <a:ext cx="10353761" cy="1326321"/>
          </a:xfrm>
        </p:spPr>
        <p:txBody>
          <a:bodyPr/>
          <a:lstStyle/>
          <a:p>
            <a:pPr lvl="0"/>
            <a:r>
              <a:rPr lang="en-US" dirty="0">
                <a:effectLst/>
                <a:latin typeface="Aptos" panose="020B0004020202020204" pitchFamily="34" charset="0"/>
              </a:rPr>
              <a:t>Visualization</a:t>
            </a:r>
          </a:p>
        </p:txBody>
      </p:sp>
      <p:sp>
        <p:nvSpPr>
          <p:cNvPr id="3" name="Content Placeholder 2">
            <a:extLst>
              <a:ext uri="{FF2B5EF4-FFF2-40B4-BE49-F238E27FC236}">
                <a16:creationId xmlns:a16="http://schemas.microsoft.com/office/drawing/2014/main" id="{5E21D0CD-03AE-22BB-C5E3-0F6A3BBF2921}"/>
              </a:ext>
            </a:extLst>
          </p:cNvPr>
          <p:cNvSpPr>
            <a:spLocks noGrp="1"/>
          </p:cNvSpPr>
          <p:nvPr>
            <p:ph idx="1"/>
          </p:nvPr>
        </p:nvSpPr>
        <p:spPr>
          <a:xfrm>
            <a:off x="924442" y="1181664"/>
            <a:ext cx="10556358" cy="5026096"/>
          </a:xfrm>
        </p:spPr>
        <p:txBody>
          <a:bodyPr>
            <a:normAutofit/>
          </a:bodyPr>
          <a:lstStyle/>
          <a:p>
            <a:pPr marL="457200" indent="-457200">
              <a:buAutoNum type="arabicPeriod" startAt="3"/>
            </a:pPr>
            <a:r>
              <a:rPr lang="en-US" b="1" dirty="0">
                <a:effectLst/>
                <a:latin typeface="Aptos" panose="020B0004020202020204" pitchFamily="34" charset="0"/>
              </a:rPr>
              <a:t>Order Trend Analysis</a:t>
            </a:r>
          </a:p>
          <a:p>
            <a:pPr marL="0" indent="0">
              <a:buNone/>
            </a:pPr>
            <a:endParaRPr lang="en-US" b="1" dirty="0">
              <a:effectLst/>
              <a:latin typeface="Aptos" panose="020B0004020202020204" pitchFamily="34" charset="0"/>
            </a:endParaRPr>
          </a:p>
          <a:p>
            <a:pPr marL="0" indent="0">
              <a:buNone/>
            </a:pPr>
            <a:endParaRPr lang="en-US" b="1" dirty="0">
              <a:effectLst/>
              <a:latin typeface="Aptos" panose="020B0004020202020204" pitchFamily="34" charset="0"/>
            </a:endParaRPr>
          </a:p>
          <a:p>
            <a:pPr marL="0" indent="0">
              <a:buNone/>
            </a:pPr>
            <a:endParaRPr lang="en-US" b="1" dirty="0">
              <a:effectLst/>
              <a:latin typeface="Aptos" panose="020B0004020202020204" pitchFamily="34" charset="0"/>
            </a:endParaRPr>
          </a:p>
          <a:p>
            <a:pPr marL="0" indent="0">
              <a:buNone/>
            </a:pPr>
            <a:endParaRPr lang="en-US" b="1" dirty="0">
              <a:effectLst/>
              <a:latin typeface="Aptos" panose="020B0004020202020204" pitchFamily="34" charset="0"/>
            </a:endParaRPr>
          </a:p>
          <a:p>
            <a:pPr marL="0" indent="0">
              <a:buNone/>
            </a:pPr>
            <a:endParaRPr lang="en-US" dirty="0">
              <a:latin typeface="Aptos" panose="020B0004020202020204" pitchFamily="34" charset="0"/>
            </a:endParaRPr>
          </a:p>
        </p:txBody>
      </p:sp>
      <p:pic>
        <p:nvPicPr>
          <p:cNvPr id="5" name="Picture 4">
            <a:extLst>
              <a:ext uri="{FF2B5EF4-FFF2-40B4-BE49-F238E27FC236}">
                <a16:creationId xmlns:a16="http://schemas.microsoft.com/office/drawing/2014/main" id="{6CFBAF97-0CF9-3448-F053-3B58B5F371BA}"/>
              </a:ext>
            </a:extLst>
          </p:cNvPr>
          <p:cNvPicPr>
            <a:picLocks noChangeAspect="1"/>
          </p:cNvPicPr>
          <p:nvPr/>
        </p:nvPicPr>
        <p:blipFill>
          <a:blip r:embed="rId2"/>
          <a:stretch>
            <a:fillRect/>
          </a:stretch>
        </p:blipFill>
        <p:spPr>
          <a:xfrm>
            <a:off x="2074896" y="1812408"/>
            <a:ext cx="8375177" cy="4822071"/>
          </a:xfrm>
          <a:prstGeom prst="rect">
            <a:avLst/>
          </a:prstGeom>
        </p:spPr>
      </p:pic>
    </p:spTree>
    <p:extLst>
      <p:ext uri="{BB962C8B-B14F-4D97-AF65-F5344CB8AC3E}">
        <p14:creationId xmlns:p14="http://schemas.microsoft.com/office/powerpoint/2010/main" val="231159657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775566-2A45-BBE2-5341-7AFD11CD3E4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FCA4C49-8CCE-358D-C092-F8C665E1C094}"/>
              </a:ext>
            </a:extLst>
          </p:cNvPr>
          <p:cNvSpPr>
            <a:spLocks noGrp="1"/>
          </p:cNvSpPr>
          <p:nvPr>
            <p:ph type="title"/>
          </p:nvPr>
        </p:nvSpPr>
        <p:spPr>
          <a:xfrm>
            <a:off x="913796" y="0"/>
            <a:ext cx="10353761" cy="1326321"/>
          </a:xfrm>
        </p:spPr>
        <p:txBody>
          <a:bodyPr/>
          <a:lstStyle/>
          <a:p>
            <a:pPr lvl="0"/>
            <a:r>
              <a:rPr lang="en-US" dirty="0">
                <a:effectLst/>
                <a:latin typeface="Aptos" panose="020B0004020202020204" pitchFamily="34" charset="0"/>
              </a:rPr>
              <a:t>Conclusion</a:t>
            </a:r>
          </a:p>
        </p:txBody>
      </p:sp>
      <p:sp>
        <p:nvSpPr>
          <p:cNvPr id="3" name="Content Placeholder 2">
            <a:extLst>
              <a:ext uri="{FF2B5EF4-FFF2-40B4-BE49-F238E27FC236}">
                <a16:creationId xmlns:a16="http://schemas.microsoft.com/office/drawing/2014/main" id="{08E699EA-8F44-11E3-0780-2387B7CBC431}"/>
              </a:ext>
            </a:extLst>
          </p:cNvPr>
          <p:cNvSpPr>
            <a:spLocks noGrp="1"/>
          </p:cNvSpPr>
          <p:nvPr>
            <p:ph idx="1"/>
          </p:nvPr>
        </p:nvSpPr>
        <p:spPr>
          <a:xfrm>
            <a:off x="924442" y="1181664"/>
            <a:ext cx="10556358" cy="5026096"/>
          </a:xfrm>
        </p:spPr>
        <p:txBody>
          <a:bodyPr>
            <a:normAutofit/>
          </a:bodyPr>
          <a:lstStyle/>
          <a:p>
            <a:pPr lvl="0"/>
            <a:r>
              <a:rPr lang="en-US" dirty="0">
                <a:effectLst/>
                <a:latin typeface="Aptos" panose="020B0004020202020204" pitchFamily="34" charset="0"/>
              </a:rPr>
              <a:t>The analysis of Simbi Logistics' data from January 2025 to March 2026 shows that the company has an inconsistent business performance throughout the period, whereby the company achieved its highest profits in March 2026 and April 2025.</a:t>
            </a:r>
          </a:p>
          <a:p>
            <a:pPr lvl="0"/>
            <a:r>
              <a:rPr lang="en-US" dirty="0">
                <a:effectLst/>
                <a:latin typeface="Aptos" panose="020B0004020202020204" pitchFamily="34" charset="0"/>
              </a:rPr>
              <a:t>The analysis also revealed that Salary and Fuel are the company's largest expenses, accounting for most of the operating costs. </a:t>
            </a:r>
          </a:p>
          <a:p>
            <a:pPr lvl="0"/>
            <a:r>
              <a:rPr lang="en-US" dirty="0">
                <a:effectLst/>
                <a:latin typeface="Aptos" panose="020B0004020202020204" pitchFamily="34" charset="0"/>
              </a:rPr>
              <a:t>Additionally, the customer demands were higher in February and March 2026. </a:t>
            </a:r>
          </a:p>
          <a:p>
            <a:pPr lvl="0"/>
            <a:r>
              <a:rPr lang="en-US" dirty="0">
                <a:effectLst/>
                <a:latin typeface="Aptos" panose="020B0004020202020204" pitchFamily="34" charset="0"/>
              </a:rPr>
              <a:t>Thursdays were the busiest days for deliveries, while Sundays recorded the fewest orders.</a:t>
            </a:r>
          </a:p>
          <a:p>
            <a:pPr lvl="0"/>
            <a:r>
              <a:rPr lang="en-US" dirty="0">
                <a:effectLst/>
                <a:latin typeface="Aptos" panose="020B0004020202020204" pitchFamily="34" charset="0"/>
              </a:rPr>
              <a:t>Overall, the results show that Simbi Logistics is operating profitably and has the opportunities to further improve efficiency, reduce cost and increase revenue.</a:t>
            </a:r>
          </a:p>
          <a:p>
            <a:pPr marL="0" indent="0">
              <a:buNone/>
            </a:pPr>
            <a:endParaRPr lang="en-US" b="1" dirty="0">
              <a:effectLst/>
              <a:latin typeface="Aptos" panose="020B0004020202020204" pitchFamily="34" charset="0"/>
            </a:endParaRPr>
          </a:p>
          <a:p>
            <a:pPr marL="0" indent="0">
              <a:buNone/>
            </a:pPr>
            <a:endParaRPr lang="en-US" b="1" dirty="0">
              <a:effectLst/>
              <a:latin typeface="Aptos" panose="020B0004020202020204" pitchFamily="34" charset="0"/>
            </a:endParaRPr>
          </a:p>
          <a:p>
            <a:pPr marL="0" indent="0">
              <a:buNone/>
            </a:pPr>
            <a:endParaRPr lang="en-US" b="1" dirty="0">
              <a:effectLst/>
              <a:latin typeface="Aptos" panose="020B0004020202020204" pitchFamily="34" charset="0"/>
            </a:endParaRPr>
          </a:p>
          <a:p>
            <a:pPr marL="0" indent="0">
              <a:buNone/>
            </a:pPr>
            <a:endParaRPr lang="en-US" dirty="0">
              <a:latin typeface="Aptos" panose="020B0004020202020204" pitchFamily="34" charset="0"/>
            </a:endParaRPr>
          </a:p>
        </p:txBody>
      </p:sp>
    </p:spTree>
    <p:extLst>
      <p:ext uri="{BB962C8B-B14F-4D97-AF65-F5344CB8AC3E}">
        <p14:creationId xmlns:p14="http://schemas.microsoft.com/office/powerpoint/2010/main" val="77633413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63BE84-F5EC-D390-6AC7-456B50147D8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C6FAF6E-68F8-A215-DE0A-9CC2589F2FD9}"/>
              </a:ext>
            </a:extLst>
          </p:cNvPr>
          <p:cNvSpPr>
            <a:spLocks noGrp="1"/>
          </p:cNvSpPr>
          <p:nvPr>
            <p:ph type="title"/>
          </p:nvPr>
        </p:nvSpPr>
        <p:spPr>
          <a:xfrm>
            <a:off x="913796" y="0"/>
            <a:ext cx="10353761" cy="1326321"/>
          </a:xfrm>
        </p:spPr>
        <p:txBody>
          <a:bodyPr/>
          <a:lstStyle/>
          <a:p>
            <a:pPr lvl="0"/>
            <a:r>
              <a:rPr lang="en-US" dirty="0">
                <a:effectLst/>
                <a:latin typeface="Aptos" panose="020B0004020202020204" pitchFamily="34" charset="0"/>
              </a:rPr>
              <a:t>Recommendations</a:t>
            </a:r>
          </a:p>
        </p:txBody>
      </p:sp>
      <p:sp>
        <p:nvSpPr>
          <p:cNvPr id="3" name="Content Placeholder 2">
            <a:extLst>
              <a:ext uri="{FF2B5EF4-FFF2-40B4-BE49-F238E27FC236}">
                <a16:creationId xmlns:a16="http://schemas.microsoft.com/office/drawing/2014/main" id="{1D08F07F-A2E7-212E-EE39-879778C15C0A}"/>
              </a:ext>
            </a:extLst>
          </p:cNvPr>
          <p:cNvSpPr>
            <a:spLocks noGrp="1"/>
          </p:cNvSpPr>
          <p:nvPr>
            <p:ph idx="1"/>
          </p:nvPr>
        </p:nvSpPr>
        <p:spPr>
          <a:xfrm>
            <a:off x="913796" y="1019104"/>
            <a:ext cx="10556358" cy="5026096"/>
          </a:xfrm>
        </p:spPr>
        <p:txBody>
          <a:bodyPr>
            <a:normAutofit fontScale="25000" lnSpcReduction="20000"/>
          </a:bodyPr>
          <a:lstStyle/>
          <a:p>
            <a:pPr marL="514350" lvl="0" indent="-514350">
              <a:buFont typeface="+mj-lt"/>
              <a:buAutoNum type="arabicPeriod"/>
            </a:pPr>
            <a:r>
              <a:rPr lang="en-US" sz="6400" b="1" dirty="0">
                <a:effectLst/>
                <a:latin typeface="Aptos" panose="020B0004020202020204" pitchFamily="34" charset="0"/>
              </a:rPr>
              <a:t>Monitoring Performance Regularly</a:t>
            </a:r>
            <a:endParaRPr lang="en-US" sz="6400" dirty="0">
              <a:effectLst/>
              <a:latin typeface="Aptos" panose="020B0004020202020204" pitchFamily="34" charset="0"/>
            </a:endParaRPr>
          </a:p>
          <a:p>
            <a:pPr lvl="1">
              <a:buFont typeface="Courier New" panose="02070309020205020404" pitchFamily="49" charset="0"/>
              <a:buChar char="o"/>
            </a:pPr>
            <a:r>
              <a:rPr lang="en-US" sz="6400" dirty="0">
                <a:effectLst/>
                <a:latin typeface="Aptos" panose="020B0004020202020204" pitchFamily="34" charset="0"/>
              </a:rPr>
              <a:t>The company should continue the use of Power BI dashboards to track profitability, expenses, and order trends for better decision-making.</a:t>
            </a:r>
          </a:p>
          <a:p>
            <a:pPr marL="514350" lvl="0" indent="-514350">
              <a:buFont typeface="+mj-lt"/>
              <a:buAutoNum type="arabicPeriod"/>
            </a:pPr>
            <a:r>
              <a:rPr lang="en-US" sz="6400" b="1" dirty="0">
                <a:effectLst/>
                <a:latin typeface="Aptos" panose="020B0004020202020204" pitchFamily="34" charset="0"/>
              </a:rPr>
              <a:t>Controlling Major Expenses e.g. Fueling</a:t>
            </a:r>
            <a:endParaRPr lang="en-US" sz="6400" dirty="0">
              <a:effectLst/>
              <a:latin typeface="Aptos" panose="020B0004020202020204" pitchFamily="34" charset="0"/>
            </a:endParaRPr>
          </a:p>
          <a:p>
            <a:pPr lvl="1">
              <a:buFont typeface="Courier New" panose="02070309020205020404" pitchFamily="49" charset="0"/>
              <a:buChar char="o"/>
            </a:pPr>
            <a:r>
              <a:rPr lang="en-US" sz="6400" dirty="0">
                <a:effectLst/>
                <a:latin typeface="Aptos" panose="020B0004020202020204" pitchFamily="34" charset="0"/>
              </a:rPr>
              <a:t>The company should pack orders going in the same direction together, to improve delivery efficiency and reduce transportation cost. </a:t>
            </a:r>
            <a:endParaRPr lang="en-US" sz="6400" b="1" dirty="0">
              <a:effectLst/>
              <a:latin typeface="Aptos" panose="020B0004020202020204" pitchFamily="34" charset="0"/>
            </a:endParaRPr>
          </a:p>
          <a:p>
            <a:pPr marL="514350" lvl="0" indent="-514350">
              <a:buFont typeface="+mj-lt"/>
              <a:buAutoNum type="arabicPeriod"/>
            </a:pPr>
            <a:r>
              <a:rPr lang="en-US" sz="6400" b="1" dirty="0">
                <a:effectLst/>
                <a:latin typeface="Aptos" panose="020B0004020202020204" pitchFamily="34" charset="0"/>
              </a:rPr>
              <a:t>Taking Advantage of the Peak Days and Special Days</a:t>
            </a:r>
            <a:endParaRPr lang="en-US" sz="6400" dirty="0">
              <a:effectLst/>
              <a:latin typeface="Aptos" panose="020B0004020202020204" pitchFamily="34" charset="0"/>
            </a:endParaRPr>
          </a:p>
          <a:p>
            <a:pPr lvl="1">
              <a:buFont typeface="Courier New" panose="02070309020205020404" pitchFamily="49" charset="0"/>
              <a:buChar char="o"/>
            </a:pPr>
            <a:r>
              <a:rPr lang="en-US" sz="6400" dirty="0">
                <a:effectLst/>
                <a:latin typeface="Aptos" panose="020B0004020202020204" pitchFamily="34" charset="0"/>
              </a:rPr>
              <a:t>The company should run promotions and ensure adequate rider availability on Thursdays, which have the highest customer demand. Also, ensure the availability of the riders on the special days like Valentine, Christmas </a:t>
            </a:r>
            <a:r>
              <a:rPr lang="en-US" sz="6400" dirty="0" err="1">
                <a:effectLst/>
                <a:latin typeface="Aptos" panose="020B0004020202020204" pitchFamily="34" charset="0"/>
              </a:rPr>
              <a:t>etc</a:t>
            </a:r>
            <a:r>
              <a:rPr lang="en-US" sz="6400" dirty="0">
                <a:effectLst/>
                <a:latin typeface="Aptos" panose="020B0004020202020204" pitchFamily="34" charset="0"/>
              </a:rPr>
              <a:t>…</a:t>
            </a:r>
          </a:p>
          <a:p>
            <a:pPr marL="514350" lvl="0" indent="-514350">
              <a:buFont typeface="+mj-lt"/>
              <a:buAutoNum type="arabicPeriod"/>
            </a:pPr>
            <a:r>
              <a:rPr lang="en-US" sz="6400" b="1" dirty="0">
                <a:effectLst/>
                <a:latin typeface="Aptos" panose="020B0004020202020204" pitchFamily="34" charset="0"/>
              </a:rPr>
              <a:t>Boosting Orders During Slow Periods</a:t>
            </a:r>
            <a:endParaRPr lang="en-US" sz="6400" dirty="0">
              <a:effectLst/>
              <a:latin typeface="Aptos" panose="020B0004020202020204" pitchFamily="34" charset="0"/>
            </a:endParaRPr>
          </a:p>
          <a:p>
            <a:pPr lvl="1">
              <a:buFont typeface="Courier New" panose="02070309020205020404" pitchFamily="49" charset="0"/>
              <a:buChar char="o"/>
            </a:pPr>
            <a:r>
              <a:rPr lang="en-US" sz="6400" dirty="0">
                <a:effectLst/>
                <a:latin typeface="Aptos" panose="020B0004020202020204" pitchFamily="34" charset="0"/>
              </a:rPr>
              <a:t>The company should introduce discounts, loyalty rewards, or special offers on slower days, especially Sundays.</a:t>
            </a:r>
          </a:p>
          <a:p>
            <a:pPr marL="514350" lvl="0" indent="-514350">
              <a:buFont typeface="+mj-lt"/>
              <a:buAutoNum type="arabicPeriod"/>
            </a:pPr>
            <a:r>
              <a:rPr lang="en-US" sz="6400" b="1" dirty="0">
                <a:effectLst/>
                <a:latin typeface="Aptos" panose="020B0004020202020204" pitchFamily="34" charset="0"/>
              </a:rPr>
              <a:t>Growing the Customer Base</a:t>
            </a:r>
            <a:endParaRPr lang="en-US" sz="6400" dirty="0">
              <a:effectLst/>
              <a:latin typeface="Aptos" panose="020B0004020202020204" pitchFamily="34" charset="0"/>
            </a:endParaRPr>
          </a:p>
          <a:p>
            <a:pPr lvl="1">
              <a:buFont typeface="Courier New" panose="02070309020205020404" pitchFamily="49" charset="0"/>
              <a:buChar char="o"/>
            </a:pPr>
            <a:r>
              <a:rPr lang="en-US" sz="6400" dirty="0">
                <a:effectLst/>
                <a:latin typeface="Aptos" panose="020B0004020202020204" pitchFamily="34" charset="0"/>
              </a:rPr>
              <a:t>The company should partner with more businesses, restaurants, supermarkets, and online vendors to increase order volume.</a:t>
            </a:r>
          </a:p>
          <a:p>
            <a:pPr marL="457200" lvl="1" indent="0">
              <a:buNone/>
            </a:pPr>
            <a:r>
              <a:rPr lang="en-US" sz="6400" dirty="0">
                <a:effectLst/>
                <a:latin typeface="Aptos" panose="020B0004020202020204" pitchFamily="34" charset="0"/>
              </a:rPr>
              <a:t>By implementing these recommendations, it will help Simbi Logistics improve profitability, increase operational efficiency, and support long-term business growth. </a:t>
            </a:r>
          </a:p>
          <a:p>
            <a:pPr marL="457200" lvl="0" indent="-457200">
              <a:buFont typeface="+mj-lt"/>
              <a:buAutoNum type="arabicPeriod"/>
            </a:pPr>
            <a:endParaRPr lang="en-US" dirty="0">
              <a:effectLst/>
              <a:latin typeface="Aptos" panose="020B0004020202020204" pitchFamily="34" charset="0"/>
            </a:endParaRPr>
          </a:p>
          <a:p>
            <a:pPr marL="0" indent="0">
              <a:buNone/>
            </a:pPr>
            <a:endParaRPr lang="en-US" b="1" dirty="0">
              <a:effectLst/>
              <a:latin typeface="Aptos" panose="020B0004020202020204" pitchFamily="34" charset="0"/>
            </a:endParaRPr>
          </a:p>
          <a:p>
            <a:pPr marL="0" indent="0">
              <a:buNone/>
            </a:pPr>
            <a:endParaRPr lang="en-US" b="1" dirty="0">
              <a:effectLst/>
              <a:latin typeface="Aptos" panose="020B0004020202020204" pitchFamily="34" charset="0"/>
            </a:endParaRPr>
          </a:p>
          <a:p>
            <a:pPr marL="0" indent="0">
              <a:buNone/>
            </a:pPr>
            <a:endParaRPr lang="en-US" b="1" dirty="0">
              <a:effectLst/>
              <a:latin typeface="Aptos" panose="020B0004020202020204" pitchFamily="34" charset="0"/>
            </a:endParaRPr>
          </a:p>
          <a:p>
            <a:pPr marL="0" indent="0">
              <a:buNone/>
            </a:pPr>
            <a:endParaRPr lang="en-US" dirty="0">
              <a:latin typeface="Aptos" panose="020B0004020202020204" pitchFamily="34" charset="0"/>
            </a:endParaRPr>
          </a:p>
        </p:txBody>
      </p:sp>
    </p:spTree>
    <p:extLst>
      <p:ext uri="{BB962C8B-B14F-4D97-AF65-F5344CB8AC3E}">
        <p14:creationId xmlns:p14="http://schemas.microsoft.com/office/powerpoint/2010/main" val="4133760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B48383-FD0F-D419-EBCC-29212D83A2A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ADD0BF9-8877-E4F6-9C6F-7CEE8ED4F65E}"/>
              </a:ext>
            </a:extLst>
          </p:cNvPr>
          <p:cNvSpPr>
            <a:spLocks noGrp="1"/>
          </p:cNvSpPr>
          <p:nvPr>
            <p:ph type="title"/>
          </p:nvPr>
        </p:nvSpPr>
        <p:spPr>
          <a:xfrm>
            <a:off x="913796" y="0"/>
            <a:ext cx="10364408" cy="6858000"/>
          </a:xfrm>
        </p:spPr>
        <p:txBody>
          <a:bodyPr/>
          <a:lstStyle/>
          <a:p>
            <a:r>
              <a:rPr lang="en-US" sz="9600" dirty="0">
                <a:effectLst/>
                <a:latin typeface="Aptos" panose="020B0004020202020204" pitchFamily="34" charset="0"/>
              </a:rPr>
              <a:t>THANKS!!!</a:t>
            </a:r>
            <a:br>
              <a:rPr lang="en-US" sz="3600" dirty="0">
                <a:effectLst/>
                <a:latin typeface="Aptos" panose="020B0004020202020204" pitchFamily="34" charset="0"/>
              </a:rPr>
            </a:br>
            <a:endParaRPr lang="en-US" dirty="0">
              <a:effectLst/>
              <a:latin typeface="Aptos" panose="020B0004020202020204" pitchFamily="34" charset="0"/>
            </a:endParaRPr>
          </a:p>
        </p:txBody>
      </p:sp>
      <p:sp>
        <p:nvSpPr>
          <p:cNvPr id="3" name="Content Placeholder 2">
            <a:extLst>
              <a:ext uri="{FF2B5EF4-FFF2-40B4-BE49-F238E27FC236}">
                <a16:creationId xmlns:a16="http://schemas.microsoft.com/office/drawing/2014/main" id="{551AD355-AA4E-6AEB-2FDC-0CEF480C45C6}"/>
              </a:ext>
            </a:extLst>
          </p:cNvPr>
          <p:cNvSpPr>
            <a:spLocks noGrp="1"/>
          </p:cNvSpPr>
          <p:nvPr>
            <p:ph idx="1"/>
          </p:nvPr>
        </p:nvSpPr>
        <p:spPr>
          <a:xfrm>
            <a:off x="924442" y="1181664"/>
            <a:ext cx="10353762" cy="4568896"/>
          </a:xfrm>
        </p:spPr>
        <p:txBody>
          <a:bodyPr>
            <a:normAutofit/>
          </a:bodyPr>
          <a:lstStyle/>
          <a:p>
            <a:pPr marL="0" indent="0">
              <a:buNone/>
            </a:pPr>
            <a:endParaRPr lang="en-US" b="1" dirty="0">
              <a:effectLst/>
              <a:latin typeface="Aptos" panose="020B0004020202020204" pitchFamily="34" charset="0"/>
            </a:endParaRPr>
          </a:p>
          <a:p>
            <a:pPr marL="0" indent="0">
              <a:buNone/>
            </a:pPr>
            <a:endParaRPr lang="en-US" b="1" dirty="0">
              <a:effectLst/>
              <a:latin typeface="Aptos" panose="020B0004020202020204" pitchFamily="34" charset="0"/>
            </a:endParaRPr>
          </a:p>
          <a:p>
            <a:pPr marL="0" indent="0">
              <a:buNone/>
            </a:pPr>
            <a:endParaRPr lang="en-US" b="1" dirty="0">
              <a:effectLst/>
              <a:latin typeface="Aptos" panose="020B0004020202020204" pitchFamily="34" charset="0"/>
            </a:endParaRPr>
          </a:p>
          <a:p>
            <a:pPr marL="0" indent="0">
              <a:buNone/>
            </a:pPr>
            <a:endParaRPr lang="en-US" b="1" dirty="0">
              <a:effectLst/>
              <a:latin typeface="Aptos" panose="020B0004020202020204" pitchFamily="34" charset="0"/>
            </a:endParaRPr>
          </a:p>
          <a:p>
            <a:pPr marL="0" indent="0">
              <a:buNone/>
            </a:pPr>
            <a:endParaRPr lang="en-US" b="1" dirty="0">
              <a:effectLst/>
              <a:latin typeface="Aptos" panose="020B0004020202020204" pitchFamily="34" charset="0"/>
            </a:endParaRPr>
          </a:p>
          <a:p>
            <a:pPr marL="0" indent="0">
              <a:buNone/>
            </a:pPr>
            <a:endParaRPr lang="en-US" dirty="0">
              <a:latin typeface="Aptos" panose="020B0004020202020204" pitchFamily="34" charset="0"/>
            </a:endParaRPr>
          </a:p>
        </p:txBody>
      </p:sp>
    </p:spTree>
    <p:extLst>
      <p:ext uri="{BB962C8B-B14F-4D97-AF65-F5344CB8AC3E}">
        <p14:creationId xmlns:p14="http://schemas.microsoft.com/office/powerpoint/2010/main" val="265067112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97312C-7425-9C40-6E42-FF9DCF9D6CB8}"/>
              </a:ext>
            </a:extLst>
          </p:cNvPr>
          <p:cNvSpPr>
            <a:spLocks noGrp="1"/>
          </p:cNvSpPr>
          <p:nvPr>
            <p:ph type="title"/>
          </p:nvPr>
        </p:nvSpPr>
        <p:spPr>
          <a:xfrm>
            <a:off x="781715" y="0"/>
            <a:ext cx="10353761" cy="1326321"/>
          </a:xfrm>
        </p:spPr>
        <p:txBody>
          <a:bodyPr/>
          <a:lstStyle/>
          <a:p>
            <a:r>
              <a:rPr lang="en-US" dirty="0">
                <a:effectLst/>
                <a:latin typeface="Aptos" panose="020B0004020202020204" pitchFamily="34" charset="0"/>
              </a:rPr>
              <a:t>Contact details;</a:t>
            </a:r>
            <a:br>
              <a:rPr lang="en-US" dirty="0">
                <a:effectLst/>
              </a:rPr>
            </a:br>
            <a:endParaRPr lang="en-US" dirty="0"/>
          </a:p>
        </p:txBody>
      </p:sp>
      <p:sp>
        <p:nvSpPr>
          <p:cNvPr id="3" name="Content Placeholder 2">
            <a:extLst>
              <a:ext uri="{FF2B5EF4-FFF2-40B4-BE49-F238E27FC236}">
                <a16:creationId xmlns:a16="http://schemas.microsoft.com/office/drawing/2014/main" id="{989D09AE-8F86-3FDF-0AC3-56FA7F78F567}"/>
              </a:ext>
            </a:extLst>
          </p:cNvPr>
          <p:cNvSpPr>
            <a:spLocks noGrp="1"/>
          </p:cNvSpPr>
          <p:nvPr>
            <p:ph idx="1"/>
          </p:nvPr>
        </p:nvSpPr>
        <p:spPr>
          <a:xfrm>
            <a:off x="919119" y="978464"/>
            <a:ext cx="10353762" cy="3695136"/>
          </a:xfrm>
        </p:spPr>
        <p:txBody>
          <a:bodyPr/>
          <a:lstStyle/>
          <a:p>
            <a:r>
              <a:rPr lang="en-US" b="1" dirty="0">
                <a:effectLst/>
                <a:latin typeface="Aptos" panose="020B0004020202020204" pitchFamily="34" charset="0"/>
              </a:rPr>
              <a:t>Email: </a:t>
            </a:r>
            <a:r>
              <a:rPr lang="en-US" u="sng" dirty="0">
                <a:effectLst/>
                <a:latin typeface="Aptos" panose="020B0004020202020204" pitchFamily="34" charset="0"/>
                <a:hlinkClick r:id="rId2"/>
              </a:rPr>
              <a:t>victoradejare04@gmaiil.com</a:t>
            </a:r>
            <a:endParaRPr lang="en-US" dirty="0">
              <a:effectLst/>
              <a:latin typeface="Aptos" panose="020B0004020202020204" pitchFamily="34" charset="0"/>
            </a:endParaRPr>
          </a:p>
          <a:p>
            <a:r>
              <a:rPr lang="en-US" b="1" dirty="0">
                <a:effectLst/>
                <a:latin typeface="Aptos" panose="020B0004020202020204" pitchFamily="34" charset="0"/>
              </a:rPr>
              <a:t>Phone: </a:t>
            </a:r>
            <a:r>
              <a:rPr lang="en-US" dirty="0">
                <a:effectLst/>
                <a:latin typeface="Aptos" panose="020B0004020202020204" pitchFamily="34" charset="0"/>
              </a:rPr>
              <a:t>09035145179</a:t>
            </a:r>
          </a:p>
          <a:p>
            <a:r>
              <a:rPr lang="en-US" b="1" dirty="0">
                <a:effectLst/>
                <a:latin typeface="Aptos" panose="020B0004020202020204" pitchFamily="34" charset="0"/>
              </a:rPr>
              <a:t>ORCID: </a:t>
            </a:r>
            <a:r>
              <a:rPr lang="en-US" u="sng" dirty="0">
                <a:effectLst/>
                <a:latin typeface="Aptos" panose="020B0004020202020204" pitchFamily="34" charset="0"/>
                <a:hlinkClick r:id="rId3"/>
              </a:rPr>
              <a:t>https://orcid.org/0009-0003-5540-6630</a:t>
            </a:r>
            <a:endParaRPr lang="en-US" dirty="0">
              <a:effectLst/>
              <a:latin typeface="Aptos" panose="020B0004020202020204" pitchFamily="34" charset="0"/>
            </a:endParaRPr>
          </a:p>
          <a:p>
            <a:r>
              <a:rPr lang="en-US" b="1" dirty="0">
                <a:effectLst/>
                <a:latin typeface="Aptos" panose="020B0004020202020204" pitchFamily="34" charset="0"/>
              </a:rPr>
              <a:t>GitHub: </a:t>
            </a:r>
            <a:r>
              <a:rPr lang="en-US" dirty="0">
                <a:effectLst/>
                <a:latin typeface="Aptos" panose="020B0004020202020204" pitchFamily="34" charset="0"/>
              </a:rPr>
              <a:t>victoradebiyi01</a:t>
            </a:r>
          </a:p>
          <a:p>
            <a:endParaRPr lang="en-US" dirty="0"/>
          </a:p>
        </p:txBody>
      </p:sp>
    </p:spTree>
    <p:extLst>
      <p:ext uri="{BB962C8B-B14F-4D97-AF65-F5344CB8AC3E}">
        <p14:creationId xmlns:p14="http://schemas.microsoft.com/office/powerpoint/2010/main" val="585421617"/>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Damask">
  <a:themeElements>
    <a:clrScheme name="Damask">
      <a:dk1>
        <a:sysClr val="windowText" lastClr="000000"/>
      </a:dk1>
      <a:lt1>
        <a:sysClr val="window" lastClr="FFFFFF"/>
      </a:lt1>
      <a:dk2>
        <a:srgbClr val="2A5B7F"/>
      </a:dk2>
      <a:lt2>
        <a:srgbClr val="ABDAFC"/>
      </a:lt2>
      <a:accent1>
        <a:srgbClr val="9EC544"/>
      </a:accent1>
      <a:accent2>
        <a:srgbClr val="50BEA3"/>
      </a:accent2>
      <a:accent3>
        <a:srgbClr val="4A9CCC"/>
      </a:accent3>
      <a:accent4>
        <a:srgbClr val="9A66CA"/>
      </a:accent4>
      <a:accent5>
        <a:srgbClr val="C54F71"/>
      </a:accent5>
      <a:accent6>
        <a:srgbClr val="DE9C3C"/>
      </a:accent6>
      <a:hlink>
        <a:srgbClr val="6BA9DA"/>
      </a:hlink>
      <a:folHlink>
        <a:srgbClr val="A0BCD3"/>
      </a:folHlink>
    </a:clrScheme>
    <a:fontScheme name="Damask">
      <a:majorFont>
        <a:latin typeface="Bookman Old Style" panose="0205060405050502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Rockwell" panose="020606030202050204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Damask">
      <a:fillStyleLst>
        <a:solidFill>
          <a:schemeClr val="phClr"/>
        </a:solidFill>
        <a:gradFill rotWithShape="1">
          <a:gsLst>
            <a:gs pos="0">
              <a:schemeClr val="phClr">
                <a:tint val="48000"/>
                <a:satMod val="105000"/>
                <a:lumMod val="110000"/>
              </a:schemeClr>
            </a:gs>
            <a:gs pos="100000">
              <a:schemeClr val="phClr">
                <a:tint val="78000"/>
                <a:satMod val="109000"/>
                <a:lumMod val="100000"/>
              </a:schemeClr>
            </a:gs>
          </a:gsLst>
          <a:lin ang="5400000" scaled="0"/>
        </a:gradFill>
        <a:gradFill rotWithShape="1">
          <a:gsLst>
            <a:gs pos="0">
              <a:schemeClr val="phClr">
                <a:tint val="94000"/>
                <a:satMod val="100000"/>
                <a:lumMod val="104000"/>
              </a:schemeClr>
            </a:gs>
            <a:gs pos="69000">
              <a:schemeClr val="phClr">
                <a:shade val="86000"/>
                <a:satMod val="130000"/>
                <a:lumMod val="102000"/>
              </a:schemeClr>
            </a:gs>
            <a:gs pos="100000">
              <a:schemeClr val="phClr">
                <a:shade val="72000"/>
                <a:satMod val="130000"/>
                <a:lumMod val="100000"/>
              </a:schemeClr>
            </a:gs>
          </a:gsLst>
          <a:lin ang="5400000" scaled="0"/>
        </a:gradFill>
      </a:fillStyleLst>
      <a:lnStyleLst>
        <a:ln w="12700" cap="flat" cmpd="sng" algn="ctr">
          <a:solidFill>
            <a:schemeClr val="phClr"/>
          </a:solidFill>
          <a:prstDash val="solid"/>
        </a:ln>
        <a:ln w="19050"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50800" dist="38100" dir="5400000" sy="96000" rotWithShape="0">
              <a:srgbClr val="000000">
                <a:alpha val="54000"/>
              </a:srgbClr>
            </a:outerShdw>
          </a:effectLst>
        </a:effectStyle>
        <a:effectStyle>
          <a:effectLst>
            <a:outerShdw blurRad="76200" dist="38100" dir="5400000" algn="ctr" rotWithShape="0">
              <a:srgbClr val="000000">
                <a:alpha val="76000"/>
              </a:srgbClr>
            </a:outerShdw>
          </a:effectLst>
          <a:scene3d>
            <a:camera prst="orthographicFront">
              <a:rot lat="0" lon="0" rev="0"/>
            </a:camera>
            <a:lightRig rig="balanced" dir="t"/>
          </a:scene3d>
          <a:sp3d prstMaterial="matte">
            <a:bevelT w="25400" h="25400" prst="relaxedInset"/>
          </a:sp3d>
        </a:effectStyle>
      </a:effectStyleLst>
      <a:bgFillStyleLst>
        <a:solidFill>
          <a:schemeClr val="phClr"/>
        </a:solidFill>
        <a:solidFill>
          <a:schemeClr val="phClr">
            <a:tint val="95000"/>
            <a:satMod val="170000"/>
          </a:schemeClr>
        </a:solidFill>
        <a:blipFill rotWithShape="1">
          <a:blip xmlns:r="http://schemas.openxmlformats.org/officeDocument/2006/relationships" r:embed="rId1">
            <a:duotone>
              <a:schemeClr val="phClr">
                <a:shade val="18000"/>
                <a:satMod val="160000"/>
                <a:lumMod val="28000"/>
              </a:schemeClr>
              <a:schemeClr val="phClr">
                <a:tint val="95000"/>
                <a:satMod val="160000"/>
                <a:lumMod val="116000"/>
              </a:schemeClr>
            </a:duotone>
          </a:blip>
          <a:stretch/>
        </a:blipFill>
      </a:bgFillStyleLst>
    </a:fmtScheme>
  </a:themeElements>
  <a:objectDefaults/>
  <a:extraClrSchemeLst/>
  <a:extLst>
    <a:ext uri="{05A4C25C-085E-4340-85A3-A5531E510DB2}">
      <thm15:themeFamily xmlns:thm15="http://schemas.microsoft.com/office/thememl/2012/main" name="Damask" id="{F9A299A0-33D0-4E0F-9F3F-7163E3744208}" vid="{746EEEEA-FB6A-406B-B510-531588D54811}"/>
    </a:ext>
  </a:extLst>
</a:theme>
</file>

<file path=docProps/app.xml><?xml version="1.0" encoding="utf-8"?>
<Properties xmlns="http://schemas.openxmlformats.org/officeDocument/2006/extended-properties" xmlns:vt="http://schemas.openxmlformats.org/officeDocument/2006/docPropsVTypes">
  <Template>TM04033921[[fn=Damask]]</Template>
  <TotalTime>309</TotalTime>
  <Words>1722</Words>
  <Application>Microsoft Office PowerPoint</Application>
  <PresentationFormat>Widescreen</PresentationFormat>
  <Paragraphs>197</Paragraphs>
  <Slides>32</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32</vt:i4>
      </vt:variant>
    </vt:vector>
  </HeadingPairs>
  <TitlesOfParts>
    <vt:vector size="39" baseType="lpstr">
      <vt:lpstr>Aptos</vt:lpstr>
      <vt:lpstr>Arial</vt:lpstr>
      <vt:lpstr>Bookman Old Style</vt:lpstr>
      <vt:lpstr>Courier New</vt:lpstr>
      <vt:lpstr>Rockwell</vt:lpstr>
      <vt:lpstr>Wingdings</vt:lpstr>
      <vt:lpstr>Damask</vt:lpstr>
      <vt:lpstr>Simbi Logistics Financial Performance Report Prepared By Adebiyi Victor Adejare Wetin Dey Code Academy June, 2026.  </vt:lpstr>
      <vt:lpstr>Outline</vt:lpstr>
      <vt:lpstr>Introduction</vt:lpstr>
      <vt:lpstr>Data Source and Overview </vt:lpstr>
      <vt:lpstr>Objectives </vt:lpstr>
      <vt:lpstr>Data Cleaning Process </vt:lpstr>
      <vt:lpstr>Data Cleaning Process CONT’D</vt:lpstr>
      <vt:lpstr>Data Cleaning Process CONT’D</vt:lpstr>
      <vt:lpstr>Data Cleaning Process CONT’D</vt:lpstr>
      <vt:lpstr>Data Cleaning Process CONT’D</vt:lpstr>
      <vt:lpstr>Data Cleaning Process CONT’D</vt:lpstr>
      <vt:lpstr>Data Cleaning Process CONT’D</vt:lpstr>
      <vt:lpstr>Data Cleaning Process CONT’D</vt:lpstr>
      <vt:lpstr>Data Transformation, Analysis and Insights </vt:lpstr>
      <vt:lpstr>Data Transformation, Analysis and Insights CONT’D </vt:lpstr>
      <vt:lpstr>Data Transformation, Analysis and Insights CONT’D</vt:lpstr>
      <vt:lpstr>Data Transformation, Analysis and Insights CONT’D</vt:lpstr>
      <vt:lpstr>Data Transformation, Analysis and Insights CONT’D</vt:lpstr>
      <vt:lpstr>Data Transformation, Analysis and Insights CONT’D </vt:lpstr>
      <vt:lpstr>Data Transformation, Analysis and Insights CONT’D</vt:lpstr>
      <vt:lpstr>Data Transformation, Analysis and Insights CONT’D</vt:lpstr>
      <vt:lpstr>Data Transformation, Analysis and Insights CONT’D</vt:lpstr>
      <vt:lpstr>Data Transformation, Analysis and Insights CONT’D</vt:lpstr>
      <vt:lpstr>Data Transformation, Analysis and Insights CONT’D</vt:lpstr>
      <vt:lpstr>Data Transformation, Analysis and Insights CONT’D</vt:lpstr>
      <vt:lpstr>Visualization</vt:lpstr>
      <vt:lpstr>Visualization</vt:lpstr>
      <vt:lpstr>Visualization</vt:lpstr>
      <vt:lpstr>Conclusion</vt:lpstr>
      <vt:lpstr>Recommendations</vt:lpstr>
      <vt:lpstr>THANKS!!! </vt:lpstr>
      <vt:lpstr>Contact details;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Victor Adebiyi</dc:creator>
  <cp:lastModifiedBy>Victor Adebiyi</cp:lastModifiedBy>
  <cp:revision>12</cp:revision>
  <dcterms:created xsi:type="dcterms:W3CDTF">2026-06-09T08:29:06Z</dcterms:created>
  <dcterms:modified xsi:type="dcterms:W3CDTF">2026-06-18T09:33:19Z</dcterms:modified>
</cp:coreProperties>
</file>